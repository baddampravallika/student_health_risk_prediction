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
  </p:notesMasterIdLst>
  <p:sldIdLst>
    <p:sldId id="257" r:id="rId3"/>
    <p:sldId id="258" r:id="rId5"/>
    <p:sldId id="304" r:id="rId6"/>
    <p:sldId id="322" r:id="rId7"/>
    <p:sldId id="314" r:id="rId8"/>
    <p:sldId id="312" r:id="rId9"/>
    <p:sldId id="313" r:id="rId10"/>
    <p:sldId id="315" r:id="rId11"/>
    <p:sldId id="280" r:id="rId12"/>
    <p:sldId id="316" r:id="rId13"/>
    <p:sldId id="311" r:id="rId14"/>
    <p:sldId id="317" r:id="rId15"/>
    <p:sldId id="318" r:id="rId16"/>
    <p:sldId id="310" r:id="rId17"/>
    <p:sldId id="323" r:id="rId18"/>
    <p:sldId id="320" r:id="rId19"/>
    <p:sldId id="321" r:id="rId20"/>
    <p:sldId id="302" r:id="rId21"/>
    <p:sldId id="271" r:id="rId22"/>
    <p:sldId id="272" r:id="rId23"/>
  </p:sldIdLst>
  <p:sldSz cx="12192000" cy="6858000" type="screen16x9"/>
  <p:notesSz cx="6858000" cy="9144000"/>
  <p:embeddedFontLst>
    <p:embeddedFont>
      <p:font typeface="Calibri" panose="020F0502020204030204"/>
      <p:regular r:id="rId27"/>
      <p:bold r:id="rId28"/>
      <p:italic r:id="rId29"/>
      <p:boldItalic r:id="rId30"/>
    </p:embeddedFont>
    <p:embeddedFont>
      <p:font typeface="Calibri" panose="020F0502020204030204" charset="0"/>
      <p:regular r:id="rId31"/>
      <p:bold r:id="rId32"/>
      <p:italic r:id="rId33"/>
      <p:boldItalic r:id="rId34"/>
    </p:embeddedFont>
    <p:embeddedFont>
      <p:font typeface="Lato Black" panose="020F0802020204030203"/>
      <p:bold r:id="rId35"/>
      <p:boldItalic r:id="rId36"/>
    </p:embeddedFont>
    <p:embeddedFont>
      <p:font typeface="Microsoft YaHei" panose="020B0503020204020204" charset="-122"/>
      <p:regular r:id="rId37"/>
      <p:bold r:id="rId38"/>
    </p:embeddedFont>
    <p:embeddedFont>
      <p:font typeface="Libre Baskerville"/>
      <p:regular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p:cViewPr varScale="1">
        <p:scale>
          <a:sx n="116" d="100"/>
          <a:sy n="116" d="100"/>
        </p:scale>
        <p:origin x="144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9" Type="http://schemas.openxmlformats.org/officeDocument/2006/relationships/font" Target="fonts/font13.fntdata"/><Relationship Id="rId38" Type="http://schemas.openxmlformats.org/officeDocument/2006/relationships/font" Target="fonts/font12.fntdata"/><Relationship Id="rId37" Type="http://schemas.openxmlformats.org/officeDocument/2006/relationships/font" Target="fonts/font11.fntdata"/><Relationship Id="rId36" Type="http://schemas.openxmlformats.org/officeDocument/2006/relationships/font" Target="fonts/font10.fntdata"/><Relationship Id="rId35" Type="http://schemas.openxmlformats.org/officeDocument/2006/relationships/font" Target="fonts/font9.fntdata"/><Relationship Id="rId34" Type="http://schemas.openxmlformats.org/officeDocument/2006/relationships/font" Target="fonts/font8.fntdata"/><Relationship Id="rId33" Type="http://schemas.openxmlformats.org/officeDocument/2006/relationships/font" Target="fonts/font7.fntdata"/><Relationship Id="rId32" Type="http://schemas.openxmlformats.org/officeDocument/2006/relationships/font" Target="fonts/font6.fntdata"/><Relationship Id="rId31" Type="http://schemas.openxmlformats.org/officeDocument/2006/relationships/font" Target="fonts/font5.fntdata"/><Relationship Id="rId30" Type="http://schemas.openxmlformats.org/officeDocument/2006/relationships/font" Target="fonts/font4.fntdata"/><Relationship Id="rId3" Type="http://schemas.openxmlformats.org/officeDocument/2006/relationships/slide" Target="slides/slide1.xml"/><Relationship Id="rId29" Type="http://schemas.openxmlformats.org/officeDocument/2006/relationships/font" Target="fonts/font3.fntdata"/><Relationship Id="rId28" Type="http://schemas.openxmlformats.org/officeDocument/2006/relationships/font" Target="fonts/font2.fntdata"/><Relationship Id="rId27" Type="http://schemas.openxmlformats.org/officeDocument/2006/relationships/font" Target="fonts/font1.fntdata"/><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65" name="Shape 2"/>
        <p:cNvGrpSpPr/>
        <p:nvPr/>
      </p:nvGrpSpPr>
      <p:grpSpPr>
        <a:xfrm>
          <a:off x="0" y="0"/>
          <a:ext cx="0" cy="0"/>
          <a:chOff x="0" y="0"/>
          <a:chExt cx="0" cy="0"/>
        </a:xfrm>
      </p:grpSpPr>
      <p:sp>
        <p:nvSpPr>
          <p:cNvPr id="1048699"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700"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701"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02"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703"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704"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 name="Shape 94"/>
        <p:cNvGrpSpPr/>
        <p:nvPr/>
      </p:nvGrpSpPr>
      <p:grpSpPr>
        <a:xfrm>
          <a:off x="0" y="0"/>
          <a:ext cx="0" cy="0"/>
          <a:chOff x="0" y="0"/>
          <a:chExt cx="0" cy="0"/>
        </a:xfrm>
      </p:grpSpPr>
      <p:sp>
        <p:nvSpPr>
          <p:cNvPr id="1048588" name="Google Shape;95;p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p>
            <a:pPr marL="0" lvl="0" indent="0" algn="l" rtl="0">
              <a:lnSpc>
                <a:spcPct val="100000"/>
              </a:lnSpc>
              <a:spcBef>
                <a:spcPts val="0"/>
              </a:spcBef>
              <a:spcAft>
                <a:spcPts val="0"/>
              </a:spcAft>
              <a:buClr>
                <a:schemeClr val="dk1"/>
              </a:buClr>
              <a:buSzPts val="1400"/>
              <a:buFont typeface="Calibri" panose="020F0502020204030204"/>
              <a:buNone/>
            </a:pPr>
          </a:p>
        </p:txBody>
      </p:sp>
      <p:sp>
        <p:nvSpPr>
          <p:cNvPr id="1048589" name="Google Shape;96;p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 name="Shape 100"/>
        <p:cNvGrpSpPr/>
        <p:nvPr/>
      </p:nvGrpSpPr>
      <p:grpSpPr>
        <a:xfrm>
          <a:off x="0" y="0"/>
          <a:ext cx="0" cy="0"/>
          <a:chOff x="0" y="0"/>
          <a:chExt cx="0" cy="0"/>
        </a:xfrm>
      </p:grpSpPr>
      <p:sp>
        <p:nvSpPr>
          <p:cNvPr id="1048596" name="Google Shape;101;p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p>
            <a:pPr marL="0" lvl="0" indent="0" algn="l" rtl="0">
              <a:lnSpc>
                <a:spcPct val="100000"/>
              </a:lnSpc>
              <a:spcBef>
                <a:spcPts val="0"/>
              </a:spcBef>
              <a:spcAft>
                <a:spcPts val="0"/>
              </a:spcAft>
              <a:buSzPts val="1400"/>
              <a:buNone/>
            </a:pPr>
          </a:p>
        </p:txBody>
      </p:sp>
      <p:sp>
        <p:nvSpPr>
          <p:cNvPr id="1048597" name="Google Shape;102;p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3"/>
          </p:nvPr>
        </p:nvSpPr>
        <p:spPr/>
      </p:sp>
      <p:sp>
        <p:nvSpPr>
          <p:cNvPr id="3" name="Text Placeholder 2"/>
          <p:cNvSpPr>
            <a:spLocks noGrp="1"/>
          </p:cNvSpPr>
          <p:nvPr>
            <p:ph type="body" idx="1"/>
          </p:nvPr>
        </p:nvSpPr>
        <p:spPr/>
        <p:txBody>
          <a:bodyPr/>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3"/>
          </p:nvPr>
        </p:nvSpPr>
        <p:spPr/>
      </p:sp>
      <p:sp>
        <p:nvSpPr>
          <p:cNvPr id="3" name="Text Placeholder 2"/>
          <p:cNvSpPr>
            <a:spLocks noGrp="1"/>
          </p:cNvSpPr>
          <p:nvPr>
            <p:ph type="body" idx="1"/>
          </p:nvPr>
        </p:nvSpPr>
        <p:spPr/>
        <p:txBody>
          <a:bodyPr/>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3"/>
          </p:nvPr>
        </p:nvSpPr>
        <p:spPr/>
      </p:sp>
      <p:sp>
        <p:nvSpPr>
          <p:cNvPr id="3" name="Text Placeholder 2"/>
          <p:cNvSpPr>
            <a:spLocks noGrp="1"/>
          </p:cNvSpPr>
          <p:nvPr>
            <p:ph type="body" idx="1"/>
          </p:nvPr>
        </p:nvSpPr>
        <p:spPr/>
        <p:txBody>
          <a:bodyPr/>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55" name="Shape 112"/>
        <p:cNvGrpSpPr/>
        <p:nvPr/>
      </p:nvGrpSpPr>
      <p:grpSpPr>
        <a:xfrm>
          <a:off x="0" y="0"/>
          <a:ext cx="0" cy="0"/>
          <a:chOff x="0" y="0"/>
          <a:chExt cx="0" cy="0"/>
        </a:xfrm>
      </p:grpSpPr>
      <p:sp>
        <p:nvSpPr>
          <p:cNvPr id="1048647" name="Google Shape;113;p5: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p>
            <a:pPr marL="0" lvl="0" indent="0" algn="l" rtl="0">
              <a:lnSpc>
                <a:spcPct val="100000"/>
              </a:lnSpc>
              <a:spcBef>
                <a:spcPts val="0"/>
              </a:spcBef>
              <a:spcAft>
                <a:spcPts val="0"/>
              </a:spcAft>
              <a:buClr>
                <a:schemeClr val="dk1"/>
              </a:buClr>
              <a:buSzPts val="1200"/>
              <a:buFont typeface="Calibri" panose="020F0502020204030204"/>
              <a:buNone/>
            </a:pPr>
          </a:p>
        </p:txBody>
      </p:sp>
      <p:sp>
        <p:nvSpPr>
          <p:cNvPr id="1048648" name="Google Shape;114;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p:txBody>
      </p:sp>
      <p:sp>
        <p:nvSpPr>
          <p:cNvPr id="5" name="Footer Placeholder 4"/>
          <p:cNvSpPr>
            <a:spLocks noGrp="1"/>
          </p:cNvSpPr>
          <p:nvPr>
            <p:ph type="ftr" sz="quarter" idx="11"/>
          </p:nvPr>
        </p:nvSpPr>
        <p:spPr/>
        <p:txBody>
          <a:bodyPr/>
          <a:lstStyle/>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p:txBody>
      </p:sp>
      <p:sp>
        <p:nvSpPr>
          <p:cNvPr id="5" name="Footer Placeholder 4"/>
          <p:cNvSpPr>
            <a:spLocks noGrp="1"/>
          </p:cNvSpPr>
          <p:nvPr>
            <p:ph type="ftr" sz="quarter" idx="11"/>
          </p:nvPr>
        </p:nvSpPr>
        <p:spPr/>
        <p:txBody>
          <a:bodyPr/>
          <a:lstStyle/>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p:txBody>
      </p:sp>
      <p:sp>
        <p:nvSpPr>
          <p:cNvPr id="5" name="Footer Placeholder 4"/>
          <p:cNvSpPr>
            <a:spLocks noGrp="1"/>
          </p:cNvSpPr>
          <p:nvPr>
            <p:ph type="ftr" sz="quarter" idx="11"/>
          </p:nvPr>
        </p:nvSpPr>
        <p:spPr/>
        <p:txBody>
          <a:bodyPr/>
          <a:lstStyle/>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205728"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p:txBody>
      </p:sp>
      <p:sp>
        <p:nvSpPr>
          <p:cNvPr id="6" name="Footer Placeholder 5"/>
          <p:cNvSpPr>
            <a:spLocks noGrp="1"/>
          </p:cNvSpPr>
          <p:nvPr>
            <p:ph type="ftr" sz="quarter" idx="11"/>
          </p:nvPr>
        </p:nvSpPr>
        <p:spPr/>
        <p:txBody>
          <a:bodyPr/>
          <a:lstStyle/>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p:txBody>
      </p:sp>
      <p:sp>
        <p:nvSpPr>
          <p:cNvPr id="8" name="Footer Placeholder 7"/>
          <p:cNvSpPr>
            <a:spLocks noGrp="1"/>
          </p:cNvSpPr>
          <p:nvPr>
            <p:ph type="ftr" sz="quarter" idx="11"/>
          </p:nvPr>
        </p:nvSpPr>
        <p:spPr/>
        <p:txBody>
          <a:bodyPr/>
          <a:lstStyle/>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p:txBody>
      </p:sp>
      <p:sp>
        <p:nvSpPr>
          <p:cNvPr id="4" name="Footer Placeholder 3"/>
          <p:cNvSpPr>
            <a:spLocks noGrp="1"/>
          </p:cNvSpPr>
          <p:nvPr>
            <p:ph type="ftr" sz="quarter" idx="11"/>
          </p:nvPr>
        </p:nvSpPr>
        <p:spPr/>
        <p:txBody>
          <a:bodyPr/>
          <a:lstStyle/>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p:txBody>
      </p:sp>
      <p:sp>
        <p:nvSpPr>
          <p:cNvPr id="3" name="Footer Placeholder 2"/>
          <p:cNvSpPr>
            <a:spLocks noGrp="1"/>
          </p:cNvSpPr>
          <p:nvPr>
            <p:ph type="ftr" sz="quarter" idx="11"/>
          </p:nvPr>
        </p:nvSpPr>
        <p:spPr/>
        <p:txBody>
          <a:bodyPr/>
          <a:lstStyle/>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p:txBody>
      </p:sp>
      <p:sp>
        <p:nvSpPr>
          <p:cNvPr id="6" name="Footer Placeholder 5"/>
          <p:cNvSpPr>
            <a:spLocks noGrp="1"/>
          </p:cNvSpPr>
          <p:nvPr>
            <p:ph type="ftr" sz="quarter" idx="11"/>
          </p:nvPr>
        </p:nvSpPr>
        <p:spPr/>
        <p:txBody>
          <a:bodyPr/>
          <a:lstStyle/>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p:txBody>
      </p:sp>
      <p:sp>
        <p:nvSpPr>
          <p:cNvPr id="6" name="Footer Placeholder 5"/>
          <p:cNvSpPr>
            <a:spLocks noGrp="1"/>
          </p:cNvSpPr>
          <p:nvPr>
            <p:ph type="ftr" sz="quarter" idx="11"/>
          </p:nvPr>
        </p:nvSpPr>
        <p:spPr/>
        <p:txBody>
          <a:bodyPr/>
          <a:lstStyle/>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timing>
    <p:tnLst>
      <p:par>
        <p:cTn id="1" dur="indefinite" restart="never" nodeType="tmRoot"/>
      </p:par>
    </p:tnLst>
  </p:timing>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p:txBody>
      </p:sp>
      <p:sp>
        <p:nvSpPr>
          <p:cNvPr id="5" name="Footer Placeholder 4"/>
          <p:cNvSpPr>
            <a:spLocks noGrp="1"/>
          </p:cNvSpPr>
          <p:nvPr>
            <p:ph type="ftr" sz="quarter" idx="11"/>
          </p:nvPr>
        </p:nvSpPr>
        <p:spPr/>
        <p:txBody>
          <a:bodyPr/>
          <a:lstStyle/>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70573"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p:txBody>
      </p:sp>
      <p:sp>
        <p:nvSpPr>
          <p:cNvPr id="5" name="Footer Placeholder 4"/>
          <p:cNvSpPr>
            <a:spLocks noGrp="1"/>
          </p:cNvSpPr>
          <p:nvPr>
            <p:ph type="ftr" sz="quarter" idx="11"/>
          </p:nvPr>
        </p:nvSpPr>
        <p:spPr/>
        <p:txBody>
          <a:bodyPr/>
          <a:lstStyle/>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p:txBody>
      </p:sp>
      <p:sp>
        <p:nvSpPr>
          <p:cNvPr id="5" name="Footer Placeholder 4"/>
          <p:cNvSpPr>
            <a:spLocks noGrp="1"/>
          </p:cNvSpPr>
          <p:nvPr>
            <p:ph type="ftr" sz="quarter" idx="11"/>
          </p:nvPr>
        </p:nvSpPr>
        <p:spPr/>
        <p:txBody>
          <a:bodyPr/>
          <a:lstStyle/>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1026" name="Title 1025"/>
          <p:cNvSpPr/>
          <p:nvPr>
            <p:ph type="title"/>
          </p:nvPr>
        </p:nvSpPr>
        <p:spPr>
          <a:xfrm>
            <a:off x="609600" y="274638"/>
            <a:ext cx="10972800" cy="1143000"/>
          </a:xfrm>
          <a:prstGeom prst="rect">
            <a:avLst/>
          </a:prstGeom>
          <a:noFill/>
          <a:ln w="9525">
            <a:noFill/>
          </a:ln>
        </p:spPr>
        <p:txBody>
          <a:bodyPr anchor="ctr" anchorCtr="0"/>
          <a:p>
            <a:pPr lvl="0"/>
            <a:r>
              <a:t>Click to edit Master title style</a:t>
            </a:r>
          </a:p>
        </p:txBody>
      </p:sp>
      <p:sp>
        <p:nvSpPr>
          <p:cNvPr id="1027" name="Text Placeholder 1026"/>
          <p:cNvSpPr/>
          <p:nvPr>
            <p:ph type="body" idx="1"/>
          </p:nvPr>
        </p:nvSpPr>
        <p:spPr>
          <a:xfrm>
            <a:off x="609600" y="1600200"/>
            <a:ext cx="10972800" cy="4525963"/>
          </a:xfrm>
          <a:prstGeom prst="rect">
            <a:avLst/>
          </a:prstGeom>
          <a:noFill/>
          <a:ln w="9525">
            <a:noFill/>
          </a:ln>
        </p:spPr>
        <p:txBody>
          <a:bodyPr/>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p:nvPr>
            <p:ph type="dt" sz="half" idx="2"/>
          </p:nvPr>
        </p:nvSpPr>
        <p:spPr>
          <a:xfrm>
            <a:off x="609600" y="6245225"/>
            <a:ext cx="2844800" cy="476250"/>
          </a:xfrm>
          <a:prstGeom prst="rect">
            <a:avLst/>
          </a:prstGeom>
          <a:noFill/>
          <a:ln w="9525">
            <a:noFill/>
          </a:ln>
        </p:spPr>
        <p:txBody>
          <a:bodyPr/>
          <a:lstStyle>
            <a:lvl1pPr>
              <a:defRPr sz="1400"/>
            </a:lvl1pPr>
          </a:lstStyle>
          <a:p/>
        </p:txBody>
      </p:sp>
      <p:sp>
        <p:nvSpPr>
          <p:cNvPr id="1029" name="Footer Placeholder 1028"/>
          <p:cNvSpPr/>
          <p:nvPr>
            <p:ph type="ftr" sz="quarter" idx="3"/>
          </p:nvPr>
        </p:nvSpPr>
        <p:spPr>
          <a:xfrm>
            <a:off x="4165600" y="6245225"/>
            <a:ext cx="3860800" cy="476250"/>
          </a:xfrm>
          <a:prstGeom prst="rect">
            <a:avLst/>
          </a:prstGeom>
          <a:noFill/>
          <a:ln w="9525">
            <a:noFill/>
          </a:ln>
        </p:spPr>
        <p:txBody>
          <a:bodyPr/>
          <a:lstStyle>
            <a:lvl1pPr algn="ctr">
              <a:defRPr sz="1400"/>
            </a:lvl1pPr>
          </a:lstStyle>
          <a:p/>
        </p:txBody>
      </p:sp>
      <p:sp>
        <p:nvSpPr>
          <p:cNvPr id="1030" name="Slide Number Placeholder 1029"/>
          <p:cNvSpPr/>
          <p:nvPr>
            <p:ph type="sldNum" sz="quarter" idx="4"/>
          </p:nvPr>
        </p:nvSpPr>
        <p:spPr>
          <a:xfrm>
            <a:off x="8737600" y="6245225"/>
            <a:ext cx="2844800" cy="476250"/>
          </a:xfrm>
          <a:prstGeom prst="rect">
            <a:avLst/>
          </a:prstGeom>
          <a:noFill/>
          <a:ln w="9525">
            <a:noFill/>
          </a:ln>
        </p:spPr>
        <p:txBody>
          <a:bodyPr/>
          <a:lstStyle>
            <a:lvl1pPr algn="r">
              <a:defRPr sz="1400"/>
            </a:lvl1pPr>
          </a:lstStyle>
          <a:p>
            <a:pPr marL="0" lvl="0" indent="0" algn="r" rtl="0">
              <a:spcBef>
                <a:spcPts val="0"/>
              </a:spcBef>
              <a:spcAft>
                <a:spcPts val="0"/>
              </a:spcAft>
              <a:buNone/>
            </a:pPr>
            <a:fld id="{00000000-1234-1234-1234-123412341234}" type="slidenum">
              <a:rPr lang="en-IN"/>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6" name="Shape 97"/>
        <p:cNvGrpSpPr/>
        <p:nvPr/>
      </p:nvGrpSpPr>
      <p:grpSpPr>
        <a:xfrm>
          <a:off x="0" y="0"/>
          <a:ext cx="0" cy="0"/>
          <a:chOff x="0" y="0"/>
          <a:chExt cx="0" cy="0"/>
        </a:xfrm>
      </p:grpSpPr>
      <p:pic>
        <p:nvPicPr>
          <p:cNvPr id="2097153" name="Google Shape;98;p1"/>
          <p:cNvPicPr preferRelativeResize="0"/>
          <p:nvPr/>
        </p:nvPicPr>
        <p:blipFill rotWithShape="1">
          <a:blip r:embed="rId1"/>
          <a:srcRect/>
          <a:stretch>
            <a:fillRect/>
          </a:stretch>
        </p:blipFill>
        <p:spPr>
          <a:xfrm>
            <a:off x="-376555" y="-163195"/>
            <a:ext cx="12568555" cy="7061200"/>
          </a:xfrm>
          <a:prstGeom prst="rect">
            <a:avLst/>
          </a:prstGeom>
          <a:noFill/>
          <a:ln>
            <a:noFill/>
          </a:ln>
        </p:spPr>
      </p:pic>
      <p:sp>
        <p:nvSpPr>
          <p:cNvPr id="1048585" name="Google Shape;99;p1"/>
          <p:cNvSpPr txBox="1"/>
          <p:nvPr/>
        </p:nvSpPr>
        <p:spPr>
          <a:xfrm>
            <a:off x="1992630" y="3616960"/>
            <a:ext cx="7652385" cy="1416050"/>
          </a:xfrm>
          <a:prstGeom prst="rect">
            <a:avLst/>
          </a:prstGeom>
          <a:noFill/>
          <a:ln>
            <a:noFill/>
          </a:ln>
        </p:spPr>
        <p:txBody>
          <a:bodyPr spcFirstLastPara="1" wrap="square" lIns="91425" tIns="45700" rIns="91425" bIns="45700" anchor="t" anchorCtr="0">
            <a:noAutofit/>
          </a:bodyPr>
          <a:p>
            <a:pPr marL="0" marR="0" lvl="0" indent="0" algn="ctr" rtl="0">
              <a:lnSpc>
                <a:spcPct val="100000"/>
              </a:lnSpc>
              <a:spcBef>
                <a:spcPts val="0"/>
              </a:spcBef>
              <a:spcAft>
                <a:spcPts val="0"/>
              </a:spcAft>
              <a:buClr>
                <a:srgbClr val="000000"/>
              </a:buClr>
              <a:buSzPts val="1800"/>
              <a:buFont typeface="Arial" panose="020B0604020202020204"/>
              <a:buNone/>
            </a:pPr>
            <a:r>
              <a:rPr lang="en-US" altLang="en-US" sz="4000" b="1" i="0" u="none" strike="noStrike" cap="none">
                <a:solidFill>
                  <a:schemeClr val="tx1"/>
                </a:solidFill>
                <a:latin typeface="Arial" panose="020B0604020202020204"/>
                <a:ea typeface="Arial" panose="020B0604020202020204"/>
                <a:cs typeface="Arial" panose="020B0604020202020204"/>
                <a:sym typeface="Arial" panose="020B0604020202020204"/>
              </a:rPr>
              <a:t>Student Health Risk </a:t>
            </a:r>
            <a:endParaRPr lang="en-US" altLang="en-US" sz="4000" b="1" i="0" u="none" strike="noStrike" cap="none">
              <a:solidFill>
                <a:schemeClr val="tx1"/>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800"/>
              <a:buFont typeface="Arial" panose="020B0604020202020204"/>
              <a:buNone/>
            </a:pPr>
            <a:r>
              <a:rPr lang="en-US" altLang="en-US" sz="4000" b="1" i="0" u="none" strike="noStrike" cap="none">
                <a:solidFill>
                  <a:schemeClr val="tx1"/>
                </a:solidFill>
                <a:latin typeface="Arial" panose="020B0604020202020204"/>
                <a:ea typeface="Arial" panose="020B0604020202020204"/>
                <a:cs typeface="Arial" panose="020B0604020202020204"/>
                <a:sym typeface="Arial" panose="020B0604020202020204"/>
              </a:rPr>
              <a:t>Prediction</a:t>
            </a:r>
            <a:endParaRPr lang="en-US" altLang="en-US" sz="4000" b="1" i="0" u="none" strike="noStrike" cap="none">
              <a:solidFill>
                <a:schemeClr val="tx1"/>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800"/>
              <a:buFont typeface="Arial" panose="020B0604020202020204"/>
              <a:buNone/>
            </a:pPr>
            <a:endParaRPr lang="en-US" altLang="en-US" sz="4000" b="1" i="0" u="none" strike="noStrike" cap="none">
              <a:solidFill>
                <a:schemeClr val="tx1"/>
              </a:solidFill>
              <a:latin typeface="Arial" panose="020B0604020202020204"/>
              <a:ea typeface="Arial" panose="020B0604020202020204"/>
              <a:cs typeface="Arial" panose="020B0604020202020204"/>
              <a:sym typeface="Arial" panose="020B0604020202020204"/>
            </a:endParaRPr>
          </a:p>
        </p:txBody>
      </p:sp>
      <p:sp>
        <p:nvSpPr>
          <p:cNvPr id="1048586" name="Slide Number Placeholder 2"/>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
        <p:nvSpPr>
          <p:cNvPr id="1048587" name="Text Box 0"/>
          <p:cNvSpPr txBox="1"/>
          <p:nvPr/>
        </p:nvSpPr>
        <p:spPr>
          <a:xfrm>
            <a:off x="623570" y="5053330"/>
            <a:ext cx="3857625" cy="1438275"/>
          </a:xfrm>
          <a:prstGeom prst="rect">
            <a:avLst/>
          </a:prstGeom>
          <a:noFill/>
        </p:spPr>
        <p:txBody>
          <a:bodyPr wrap="square" rtlCol="0">
            <a:noAutofit/>
          </a:bodyPr>
          <a:p>
            <a:endParaRPr lang="en-US" sz="1600">
              <a:solidFill>
                <a:srgbClr val="FF0000"/>
              </a:solidFill>
              <a:latin typeface="Calibri" panose="020F0502020204030204" charset="0"/>
              <a:cs typeface="Calibri" panose="020F0502020204030204" charset="0"/>
            </a:endParaRPr>
          </a:p>
          <a:p>
            <a:pPr>
              <a:lnSpc>
                <a:spcPct val="150000"/>
              </a:lnSpc>
            </a:pPr>
            <a:r>
              <a:rPr lang="en-US" sz="1800" b="1">
                <a:solidFill>
                  <a:srgbClr val="FF0000"/>
                </a:solidFill>
                <a:latin typeface="Calibri" panose="020F0502020204030204" charset="0"/>
                <a:cs typeface="Calibri" panose="020F0502020204030204" charset="0"/>
              </a:rPr>
              <a:t>Presented by:</a:t>
            </a:r>
            <a:endParaRPr lang="en-US" sz="1800" b="1">
              <a:solidFill>
                <a:srgbClr val="FF0000"/>
              </a:solidFill>
              <a:latin typeface="Calibri" panose="020F0502020204030204" charset="0"/>
              <a:cs typeface="Calibri" panose="020F0502020204030204" charset="0"/>
            </a:endParaRPr>
          </a:p>
          <a:p>
            <a:r>
              <a:rPr lang="en-US" sz="2400">
                <a:latin typeface="Calibri" panose="020F0502020204030204" charset="0"/>
                <a:cs typeface="Calibri" panose="020F0502020204030204" charset="0"/>
              </a:rPr>
              <a:t>B. Pravallika</a:t>
            </a:r>
            <a:endParaRPr lang="en-US" sz="2400">
              <a:latin typeface="Calibri" panose="020F0502020204030204" charset="0"/>
              <a:cs typeface="Calibri" panose="020F0502020204030204" charset="0"/>
            </a:endParaRPr>
          </a:p>
          <a:p>
            <a:r>
              <a:rPr lang="en-US" sz="2400">
                <a:latin typeface="Calibri" panose="020F0502020204030204" charset="0"/>
                <a:cs typeface="Calibri" panose="020F0502020204030204" charset="0"/>
              </a:rPr>
              <a:t>Batch No: 480</a:t>
            </a:r>
            <a:endParaRPr lang="en-US" sz="2400">
              <a:latin typeface="Calibri" panose="020F0502020204030204" charset="0"/>
              <a:cs typeface="Calibri" panose="020F050202020403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35" name="Shape 103"/>
        <p:cNvGrpSpPr/>
        <p:nvPr/>
      </p:nvGrpSpPr>
      <p:grpSpPr>
        <a:xfrm>
          <a:off x="0" y="0"/>
          <a:ext cx="0" cy="0"/>
          <a:chOff x="0" y="0"/>
          <a:chExt cx="0" cy="0"/>
        </a:xfrm>
      </p:grpSpPr>
      <p:sp>
        <p:nvSpPr>
          <p:cNvPr id="1048593" name="Google Shape;104;p3"/>
          <p:cNvSpPr txBox="1"/>
          <p:nvPr/>
        </p:nvSpPr>
        <p:spPr>
          <a:xfrm>
            <a:off x="1064260" y="1852295"/>
            <a:ext cx="10131425" cy="3495675"/>
          </a:xfrm>
          <a:prstGeom prst="rect">
            <a:avLst/>
          </a:prstGeom>
          <a:noFill/>
          <a:ln>
            <a:noFill/>
          </a:ln>
        </p:spPr>
        <p:txBody>
          <a:bodyPr spcFirstLastPara="1" wrap="square" lIns="91425" tIns="45700" rIns="91425" bIns="45700" anchor="t" anchorCtr="0">
            <a:noAutofit/>
          </a:bodyPr>
          <a:p>
            <a:pPr marL="0" marR="0" lvl="0" indent="0" algn="just" rtl="0">
              <a:lnSpc>
                <a:spcPct val="100000"/>
              </a:lnSpc>
              <a:spcBef>
                <a:spcPts val="0"/>
              </a:spcBef>
              <a:spcAft>
                <a:spcPts val="0"/>
              </a:spcAft>
              <a:buClr>
                <a:schemeClr val="dk1"/>
              </a:buClr>
              <a:buSzPts val="2400"/>
              <a:buFont typeface="Arial" panose="020B0604020202020204"/>
              <a:buNone/>
            </a:pPr>
            <a:endParaRPr lang="en-IN" sz="20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just" rtl="0">
              <a:lnSpc>
                <a:spcPct val="100000"/>
              </a:lnSpc>
              <a:spcBef>
                <a:spcPts val="0"/>
              </a:spcBef>
              <a:spcAft>
                <a:spcPts val="0"/>
              </a:spcAft>
              <a:buClr>
                <a:schemeClr val="dk1"/>
              </a:buClr>
              <a:buSzPts val="2400"/>
              <a:buFont typeface="Arial" panose="020B0604020202020204" pitchFamily="34" charset="0"/>
              <a:buChar char="•"/>
            </a:pPr>
            <a:r>
              <a:rPr lang="en-US" sz="2000" i="0" u="none" strike="noStrike" cap="none">
                <a:solidFill>
                  <a:schemeClr val="dk1"/>
                </a:solidFill>
                <a:latin typeface="Arial" panose="020B0604020202020204" pitchFamily="34" charset="0"/>
                <a:ea typeface="Calibri" panose="020F0502020204030204"/>
                <a:cs typeface="Arial" panose="020B0604020202020204" pitchFamily="34" charset="0"/>
                <a:sym typeface="Calibri" panose="020F0502020204030204"/>
              </a:rPr>
              <a:t>I have  completed my B.Tech in Computer Science and </a:t>
            </a:r>
            <a:r>
              <a:rPr lang="en-US" sz="2000">
                <a:solidFill>
                  <a:schemeClr val="dk1"/>
                </a:solidFill>
                <a:latin typeface="Arial" panose="020B0604020202020204" pitchFamily="34" charset="0"/>
                <a:ea typeface="Calibri" panose="020F0502020204030204"/>
                <a:cs typeface="Arial" panose="020B0604020202020204" pitchFamily="34" charset="0"/>
                <a:sym typeface="Calibri" panose="020F0502020204030204"/>
              </a:rPr>
              <a:t>Engineering</a:t>
            </a:r>
            <a:r>
              <a:rPr lang="en-US" sz="2000" i="0" u="none" strike="noStrike" cap="none">
                <a:solidFill>
                  <a:schemeClr val="dk1"/>
                </a:solidFill>
                <a:latin typeface="Arial" panose="020B0604020202020204" pitchFamily="34" charset="0"/>
                <a:ea typeface="Calibri" panose="020F0502020204030204"/>
                <a:cs typeface="Arial" panose="020B0604020202020204" pitchFamily="34" charset="0"/>
                <a:sym typeface="Calibri" panose="020F0502020204030204"/>
              </a:rPr>
              <a:t>   </a:t>
            </a:r>
            <a:endParaRPr lang="en-US" sz="2000" i="0" u="none" strike="noStrike" cap="none">
              <a:solidFill>
                <a:schemeClr val="dk1"/>
              </a:solidFill>
              <a:latin typeface="Arial" panose="020B0604020202020204" pitchFamily="34" charset="0"/>
              <a:ea typeface="Calibri" panose="020F0502020204030204"/>
              <a:cs typeface="Arial" panose="020B0604020202020204" pitchFamily="34" charset="0"/>
              <a:sym typeface="Calibri" panose="020F0502020204030204"/>
            </a:endParaRPr>
          </a:p>
          <a:p>
            <a:pPr marL="0" marR="0" lvl="0" indent="0" algn="just" rtl="0">
              <a:lnSpc>
                <a:spcPct val="100000"/>
              </a:lnSpc>
              <a:spcBef>
                <a:spcPts val="0"/>
              </a:spcBef>
              <a:spcAft>
                <a:spcPts val="0"/>
              </a:spcAft>
              <a:buClr>
                <a:schemeClr val="dk1"/>
              </a:buClr>
              <a:buSzPts val="2400"/>
              <a:buFont typeface="Arial" panose="020B0604020202020204"/>
              <a:buNone/>
            </a:pPr>
            <a:r>
              <a:rPr lang="en-US" sz="2000" i="0" u="none" strike="noStrike" cap="none">
                <a:solidFill>
                  <a:schemeClr val="dk1"/>
                </a:solidFill>
                <a:latin typeface="Arial" panose="020B0604020202020204" pitchFamily="34" charset="0"/>
                <a:ea typeface="Calibri" panose="020F0502020204030204"/>
                <a:cs typeface="Arial" panose="020B0604020202020204" pitchFamily="34" charset="0"/>
                <a:sym typeface="Calibri" panose="020F0502020204030204"/>
              </a:rPr>
              <a:t>     at Nalla Malla Reddy Engineering College.</a:t>
            </a:r>
            <a:r>
              <a:rPr lang="en-US" sz="2400" i="0" u="none" strike="noStrike" cap="none">
                <a:solidFill>
                  <a:schemeClr val="dk1"/>
                </a:solidFill>
                <a:latin typeface="Arial" panose="020B0604020202020204" pitchFamily="34" charset="0"/>
                <a:ea typeface="Calibri" panose="020F0502020204030204"/>
                <a:cs typeface="Arial" panose="020B0604020202020204" pitchFamily="34" charset="0"/>
                <a:sym typeface="Calibri" panose="020F0502020204030204"/>
              </a:rPr>
              <a:t>                              </a:t>
            </a:r>
            <a:endParaRPr sz="2400" b="1" i="0" u="none" strike="noStrike" cap="none">
              <a:solidFill>
                <a:schemeClr val="dk1"/>
              </a:solidFill>
              <a:latin typeface="Arial" panose="020B0604020202020204" pitchFamily="34" charset="0"/>
              <a:ea typeface="Calibri" panose="020F0502020204030204"/>
              <a:cs typeface="Arial" panose="020B0604020202020204" pitchFamily="34" charset="0"/>
              <a:sym typeface="Calibri" panose="020F0502020204030204"/>
            </a:endParaRPr>
          </a:p>
          <a:p>
            <a:pPr marL="0" marR="0" lvl="0" indent="0" algn="just" rtl="0">
              <a:lnSpc>
                <a:spcPct val="100000"/>
              </a:lnSpc>
              <a:spcBef>
                <a:spcPts val="0"/>
              </a:spcBef>
              <a:spcAft>
                <a:spcPts val="0"/>
              </a:spcAft>
              <a:buClr>
                <a:schemeClr val="dk1"/>
              </a:buClr>
              <a:buSzPts val="2400"/>
              <a:buFont typeface="Arial" panose="020B0604020202020204"/>
              <a:buNone/>
            </a:pPr>
            <a:endParaRPr lang="en-IN" sz="2000" b="1" i="0" u="none" strike="noStrike" cap="none">
              <a:solidFill>
                <a:schemeClr val="dk1"/>
              </a:solidFill>
              <a:latin typeface="Arial" panose="020B0604020202020204" pitchFamily="34" charset="0"/>
              <a:ea typeface="Calibri" panose="020F0502020204030204"/>
              <a:cs typeface="Arial" panose="020B0604020202020204" pitchFamily="34" charset="0"/>
              <a:sym typeface="Calibri" panose="020F0502020204030204"/>
            </a:endParaRPr>
          </a:p>
          <a:p>
            <a:pPr marL="342900" marR="0" lvl="0" indent="-342900" algn="just" rtl="0">
              <a:lnSpc>
                <a:spcPct val="100000"/>
              </a:lnSpc>
              <a:spcBef>
                <a:spcPts val="0"/>
              </a:spcBef>
              <a:spcAft>
                <a:spcPts val="0"/>
              </a:spcAft>
              <a:buClr>
                <a:schemeClr val="dk1"/>
              </a:buClr>
              <a:buSzPts val="2400"/>
              <a:buFont typeface="Arial" panose="020B0604020202020204" pitchFamily="34" charset="0"/>
              <a:buChar char="•"/>
            </a:pPr>
            <a:r>
              <a:rPr lang="en-US" altLang="en-IN" sz="2000" i="0" u="none" strike="noStrike" cap="none">
                <a:solidFill>
                  <a:schemeClr val="dk1"/>
                </a:solidFill>
                <a:latin typeface="Arial" panose="020B0604020202020204" pitchFamily="34" charset="0"/>
                <a:ea typeface="Calibri" panose="020F0502020204030204"/>
                <a:cs typeface="Arial" panose="020B0604020202020204" pitchFamily="34" charset="0"/>
                <a:sym typeface="Calibri" panose="020F0502020204030204"/>
              </a:rPr>
              <a:t>Interested in leveraging data to drive </a:t>
            </a:r>
            <a:r>
              <a:rPr lang="en-US" altLang="en-IN" sz="2000">
                <a:solidFill>
                  <a:schemeClr val="dk1"/>
                </a:solidFill>
                <a:latin typeface="Arial" panose="020B0604020202020204" pitchFamily="34" charset="0"/>
                <a:ea typeface="Calibri" panose="020F0502020204030204"/>
                <a:cs typeface="Arial" panose="020B0604020202020204" pitchFamily="34" charset="0"/>
                <a:sym typeface="Calibri" panose="020F0502020204030204"/>
              </a:rPr>
              <a:t>insights and solutions in tech </a:t>
            </a:r>
            <a:r>
              <a:rPr lang="en-US" altLang="en-IN" sz="2000" i="0" u="none" strike="noStrike" cap="none">
                <a:solidFill>
                  <a:schemeClr val="dk1"/>
                </a:solidFill>
                <a:latin typeface="Arial" panose="020B0604020202020204" pitchFamily="34" charset="0"/>
                <a:ea typeface="Calibri" panose="020F0502020204030204"/>
                <a:cs typeface="Arial" panose="020B0604020202020204" pitchFamily="34" charset="0"/>
                <a:sym typeface="Calibri" panose="020F0502020204030204"/>
              </a:rPr>
              <a:t>and healthcare,</a:t>
            </a:r>
            <a:endParaRPr lang="en-US" altLang="en-IN" sz="2000" i="0" u="none" strike="noStrike" cap="none">
              <a:solidFill>
                <a:schemeClr val="dk1"/>
              </a:solidFill>
              <a:latin typeface="Arial" panose="020B0604020202020204" pitchFamily="34" charset="0"/>
              <a:ea typeface="Calibri" panose="020F0502020204030204"/>
              <a:cs typeface="Arial" panose="020B0604020202020204" pitchFamily="34" charset="0"/>
              <a:sym typeface="Calibri" panose="020F0502020204030204"/>
            </a:endParaRPr>
          </a:p>
          <a:p>
            <a:pPr marL="0" marR="0" lvl="0" indent="0" algn="just" rtl="0">
              <a:lnSpc>
                <a:spcPct val="100000"/>
              </a:lnSpc>
              <a:spcBef>
                <a:spcPts val="0"/>
              </a:spcBef>
              <a:spcAft>
                <a:spcPts val="0"/>
              </a:spcAft>
              <a:buClr>
                <a:schemeClr val="dk1"/>
              </a:buClr>
              <a:buSzPts val="2400"/>
              <a:buNone/>
            </a:pPr>
            <a:r>
              <a:rPr lang="en-US" altLang="en-IN" sz="2000" i="0" u="none" strike="noStrike" cap="none">
                <a:solidFill>
                  <a:schemeClr val="dk1"/>
                </a:solidFill>
                <a:latin typeface="Arial" panose="020B0604020202020204" pitchFamily="34" charset="0"/>
                <a:ea typeface="Calibri" panose="020F0502020204030204"/>
                <a:cs typeface="Arial" panose="020B0604020202020204" pitchFamily="34" charset="0"/>
                <a:sym typeface="Calibri" panose="020F0502020204030204"/>
              </a:rPr>
              <a:t>     </a:t>
            </a:r>
            <a:r>
              <a:rPr lang="en-US" altLang="en-IN" sz="2000">
                <a:solidFill>
                  <a:schemeClr val="dk1"/>
                </a:solidFill>
                <a:latin typeface="Arial" panose="020B0604020202020204" pitchFamily="34" charset="0"/>
                <a:ea typeface="Calibri" panose="020F0502020204030204"/>
                <a:cs typeface="Arial" panose="020B0604020202020204" pitchFamily="34" charset="0"/>
                <a:sym typeface="Calibri" panose="020F0502020204030204"/>
              </a:rPr>
              <a:t>solving real-world problems.</a:t>
            </a:r>
            <a:endParaRPr sz="2000" b="1" i="0" u="none" strike="noStrike" cap="none">
              <a:solidFill>
                <a:schemeClr val="dk1"/>
              </a:solidFill>
              <a:latin typeface="Arial" panose="020B0604020202020204" pitchFamily="34" charset="0"/>
              <a:ea typeface="Calibri" panose="020F0502020204030204"/>
              <a:cs typeface="Arial" panose="020B0604020202020204" pitchFamily="34" charset="0"/>
              <a:sym typeface="Calibri" panose="020F0502020204030204"/>
            </a:endParaRPr>
          </a:p>
          <a:p>
            <a:pPr marL="285750" marR="0" lvl="0" indent="-323850" algn="just" rtl="0">
              <a:lnSpc>
                <a:spcPct val="100000"/>
              </a:lnSpc>
              <a:spcBef>
                <a:spcPts val="0"/>
              </a:spcBef>
              <a:spcAft>
                <a:spcPts val="0"/>
              </a:spcAft>
              <a:buClr>
                <a:schemeClr val="dk1"/>
              </a:buClr>
              <a:buSzPts val="2400"/>
              <a:buFont typeface="Calibri" panose="020F0502020204030204"/>
              <a:buChar char="•"/>
            </a:pPr>
            <a:endParaRPr lang="en-US" altLang="en-US" sz="2000" i="0" u="none" strike="noStrike" cap="none">
              <a:solidFill>
                <a:schemeClr val="dk1"/>
              </a:solidFill>
              <a:latin typeface="Arial" panose="020B0604020202020204" pitchFamily="34" charset="0"/>
              <a:ea typeface="Calibri" panose="020F0502020204030204"/>
              <a:cs typeface="Arial" panose="020B0604020202020204" pitchFamily="34" charset="0"/>
              <a:sym typeface="Calibri" panose="020F0502020204030204"/>
            </a:endParaRPr>
          </a:p>
          <a:p>
            <a:pPr marL="0" marR="0" lvl="0" indent="0" algn="just" rtl="0">
              <a:lnSpc>
                <a:spcPct val="100000"/>
              </a:lnSpc>
              <a:spcBef>
                <a:spcPts val="0"/>
              </a:spcBef>
              <a:spcAft>
                <a:spcPts val="0"/>
              </a:spcAft>
              <a:buClr>
                <a:schemeClr val="dk1"/>
              </a:buClr>
              <a:buSzPts val="2400"/>
              <a:buFont typeface="Calibri" panose="020F0502020204030204"/>
              <a:buNone/>
            </a:pPr>
            <a:r>
              <a:rPr lang="en-US" altLang="en-US" sz="2000" i="0" u="none" strike="noStrike" cap="none">
                <a:solidFill>
                  <a:schemeClr val="accent5">
                    <a:lumMod val="50000"/>
                  </a:schemeClr>
                </a:solidFill>
                <a:latin typeface="Arial" panose="020B0604020202020204" pitchFamily="34" charset="0"/>
                <a:ea typeface="Calibri" panose="020F0502020204030204"/>
                <a:cs typeface="Arial" panose="020B0604020202020204" pitchFamily="34" charset="0"/>
                <a:sym typeface="Calibri" panose="020F0502020204030204"/>
              </a:rPr>
              <a:t>   </a:t>
            </a:r>
            <a:r>
              <a:rPr lang="en-US" altLang="en-US" sz="2000" b="1" i="0" u="none" strike="noStrike" cap="none">
                <a:solidFill>
                  <a:schemeClr val="accent5">
                    <a:lumMod val="50000"/>
                  </a:schemeClr>
                </a:solidFill>
                <a:latin typeface="Arial" panose="020B0604020202020204" pitchFamily="34" charset="0"/>
                <a:ea typeface="Calibri" panose="020F0502020204030204"/>
                <a:cs typeface="Arial" panose="020B0604020202020204" pitchFamily="34" charset="0"/>
                <a:sym typeface="Calibri" panose="020F0502020204030204"/>
              </a:rPr>
              <a:t>  https://www.linkedin.com/in/baddam-pravallika</a:t>
            </a:r>
            <a:endParaRPr lang="en-US" altLang="en-US" sz="2000" b="1" i="0" u="none" strike="noStrike" cap="none">
              <a:solidFill>
                <a:schemeClr val="accent5">
                  <a:lumMod val="50000"/>
                </a:schemeClr>
              </a:solidFill>
              <a:latin typeface="Arial" panose="020B0604020202020204" pitchFamily="34" charset="0"/>
              <a:ea typeface="Calibri" panose="020F0502020204030204"/>
              <a:cs typeface="Arial" panose="020B0604020202020204" pitchFamily="34" charset="0"/>
              <a:sym typeface="Calibri" panose="020F0502020204030204"/>
            </a:endParaRPr>
          </a:p>
          <a:p>
            <a:pPr marL="0" marR="0" lvl="0" indent="0" algn="just" rtl="0">
              <a:lnSpc>
                <a:spcPct val="100000"/>
              </a:lnSpc>
              <a:spcBef>
                <a:spcPts val="0"/>
              </a:spcBef>
              <a:spcAft>
                <a:spcPts val="0"/>
              </a:spcAft>
              <a:buClr>
                <a:schemeClr val="dk1"/>
              </a:buClr>
              <a:buSzPts val="2400"/>
              <a:buFont typeface="Calibri" panose="020F0502020204030204"/>
              <a:buNone/>
            </a:pPr>
            <a:r>
              <a:rPr lang="en-US" altLang="en-US" sz="2000" b="1" i="0" u="none" strike="noStrike" cap="none">
                <a:solidFill>
                  <a:schemeClr val="accent5">
                    <a:lumMod val="50000"/>
                  </a:schemeClr>
                </a:solidFill>
                <a:latin typeface="Arial" panose="020B0604020202020204" pitchFamily="34" charset="0"/>
                <a:ea typeface="Calibri" panose="020F0502020204030204"/>
                <a:cs typeface="Arial" panose="020B0604020202020204" pitchFamily="34" charset="0"/>
                <a:sym typeface="Calibri" panose="020F0502020204030204"/>
              </a:rPr>
              <a:t>     https://github.com/Baddampravallika</a:t>
            </a:r>
            <a:endParaRPr lang="en-US" altLang="en-US" sz="2000" b="1" i="0" u="none" strike="noStrike" cap="none">
              <a:solidFill>
                <a:schemeClr val="accent5">
                  <a:lumMod val="50000"/>
                </a:schemeClr>
              </a:solidFill>
              <a:latin typeface="Arial" panose="020B0604020202020204" pitchFamily="34" charset="0"/>
              <a:ea typeface="Calibri" panose="020F0502020204030204"/>
              <a:cs typeface="Arial" panose="020B0604020202020204" pitchFamily="34" charset="0"/>
              <a:sym typeface="Calibri" panose="020F0502020204030204"/>
            </a:endParaRPr>
          </a:p>
          <a:p>
            <a:pPr marL="0" marR="0" lvl="0" indent="0" algn="just" rtl="0">
              <a:lnSpc>
                <a:spcPct val="100000"/>
              </a:lnSpc>
              <a:spcBef>
                <a:spcPts val="0"/>
              </a:spcBef>
              <a:spcAft>
                <a:spcPts val="0"/>
              </a:spcAft>
              <a:buClr>
                <a:schemeClr val="dk1"/>
              </a:buClr>
              <a:buSzPts val="2400"/>
              <a:buFont typeface="Calibri" panose="020F0502020204030204"/>
              <a:buNone/>
            </a:pPr>
            <a:r>
              <a:rPr lang="en-US" altLang="en-US" sz="2000" i="0" u="none" strike="noStrike" cap="none">
                <a:solidFill>
                  <a:schemeClr val="dk1"/>
                </a:solidFill>
                <a:latin typeface="Arial" panose="020B0604020202020204" pitchFamily="34" charset="0"/>
                <a:ea typeface="Calibri" panose="020F0502020204030204"/>
                <a:cs typeface="Arial" panose="020B0604020202020204" pitchFamily="34" charset="0"/>
                <a:sym typeface="Calibri" panose="020F0502020204030204"/>
              </a:rPr>
              <a:t>     </a:t>
            </a:r>
            <a:endParaRPr lang="en-US" altLang="en-US" sz="2000" i="0" u="none" strike="noStrike" cap="none">
              <a:solidFill>
                <a:schemeClr val="dk1"/>
              </a:solidFill>
              <a:latin typeface="Arial" panose="020B0604020202020204" pitchFamily="34" charset="0"/>
              <a:ea typeface="Calibri" panose="020F0502020204030204"/>
              <a:cs typeface="Arial" panose="020B0604020202020204" pitchFamily="34" charset="0"/>
              <a:sym typeface="Calibri" panose="020F0502020204030204"/>
            </a:endParaRPr>
          </a:p>
        </p:txBody>
      </p:sp>
      <p:sp>
        <p:nvSpPr>
          <p:cNvPr id="1048594" name="Google Shape;105;p3"/>
          <p:cNvSpPr txBox="1"/>
          <p:nvPr/>
        </p:nvSpPr>
        <p:spPr>
          <a:xfrm>
            <a:off x="1188720" y="995680"/>
            <a:ext cx="5337810" cy="535305"/>
          </a:xfrm>
          <a:prstGeom prst="rect">
            <a:avLst/>
          </a:prstGeom>
          <a:noFill/>
          <a:ln>
            <a:noFill/>
          </a:ln>
        </p:spPr>
        <p:txBody>
          <a:bodyPr spcFirstLastPara="1" wrap="square" lIns="91425" tIns="45700" rIns="91425" bIns="45700" anchor="t" anchorCtr="0">
            <a:noAutofit/>
          </a:bodyPr>
          <a:p>
            <a:pPr marL="0" marR="0" lvl="0" indent="0" algn="l" rtl="0">
              <a:lnSpc>
                <a:spcPct val="80000"/>
              </a:lnSpc>
              <a:spcBef>
                <a:spcPts val="0"/>
              </a:spcBef>
              <a:spcAft>
                <a:spcPts val="0"/>
              </a:spcAft>
              <a:buClr>
                <a:srgbClr val="FF0000"/>
              </a:buClr>
              <a:buSzPts val="3200"/>
              <a:buFont typeface="Lato Black" panose="020F0802020204030203"/>
              <a:buNone/>
            </a:pPr>
            <a:r>
              <a:rPr lang="en-IN" sz="4400" b="0" i="0" u="none" strike="noStrike" cap="none">
                <a:solidFill>
                  <a:srgbClr val="FF0000"/>
                </a:solidFill>
                <a:latin typeface="Lato Black" panose="020F0802020204030203"/>
                <a:ea typeface="Lato Black" panose="020F0802020204030203"/>
                <a:cs typeface="Lato Black" panose="020F0802020204030203"/>
                <a:sym typeface="Lato Black" panose="020F0802020204030203"/>
              </a:rPr>
              <a:t>About me</a:t>
            </a:r>
            <a:endParaRPr lang="en-IN" sz="4400" b="0" i="0" u="none" strike="noStrike" cap="none">
              <a:solidFill>
                <a:srgbClr val="FF0000"/>
              </a:solidFill>
              <a:latin typeface="Lato Black" panose="020F0802020204030203"/>
              <a:ea typeface="Lato Black" panose="020F0802020204030203"/>
              <a:cs typeface="Lato Black" panose="020F0802020204030203"/>
              <a:sym typeface="Lato Black" panose="020F0802020204030203"/>
            </a:endParaRPr>
          </a:p>
        </p:txBody>
      </p:sp>
      <p:sp>
        <p:nvSpPr>
          <p:cNvPr id="1048595" name="Slide Number Placeholder 2"/>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48594"/>
                                        </p:tgtEl>
                                        <p:attrNameLst>
                                          <p:attrName>style.visibility</p:attrName>
                                        </p:attrNameLst>
                                      </p:cBhvr>
                                      <p:to>
                                        <p:strVal val="visible"/>
                                      </p:to>
                                    </p:set>
                                    <p:animEffect transition="in" filter="fade">
                                      <p:cBhvr>
                                        <p:cTn id="7" dur="500"/>
                                        <p:tgtEl>
                                          <p:spTgt spid="10485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itle 5"/>
          <p:cNvSpPr>
            <a:spLocks noGrp="1"/>
          </p:cNvSpPr>
          <p:nvPr>
            <p:ph type="title"/>
          </p:nvPr>
        </p:nvSpPr>
        <p:spPr>
          <a:xfrm>
            <a:off x="975995" y="274955"/>
            <a:ext cx="3706495" cy="686435"/>
          </a:xfrm>
        </p:spPr>
        <p:txBody>
          <a:bodyPr/>
          <a:p>
            <a:pPr algn="l"/>
            <a:r>
              <a:rPr lang="en-US" b="1">
                <a:solidFill>
                  <a:srgbClr val="FF0000"/>
                </a:solidFill>
              </a:rPr>
              <a:t>  Agenda</a:t>
            </a:r>
            <a:endParaRPr lang="en-US" b="1">
              <a:solidFill>
                <a:srgbClr val="FF0000"/>
              </a:solidFill>
            </a:endParaRPr>
          </a:p>
        </p:txBody>
      </p:sp>
      <p:sp>
        <p:nvSpPr>
          <p:cNvPr id="7" name="Content Placeholder 6"/>
          <p:cNvSpPr>
            <a:spLocks noGrp="1"/>
          </p:cNvSpPr>
          <p:nvPr>
            <p:ph idx="1"/>
          </p:nvPr>
        </p:nvSpPr>
        <p:spPr>
          <a:xfrm>
            <a:off x="894080" y="1068070"/>
            <a:ext cx="4521200" cy="5133340"/>
          </a:xfrm>
        </p:spPr>
        <p:txBody>
          <a:bodyPr/>
          <a:p>
            <a:r>
              <a:rPr lang="en-US" sz="2200">
                <a:sym typeface="+mn-ea"/>
              </a:rPr>
              <a:t>Introduction</a:t>
            </a:r>
            <a:endParaRPr lang="en-US" sz="2200">
              <a:sym typeface="+mn-ea"/>
            </a:endParaRPr>
          </a:p>
          <a:p>
            <a:r>
              <a:rPr lang="en-US" sz="2200">
                <a:sym typeface="+mn-ea"/>
              </a:rPr>
              <a:t>CRISP-ML(Q)</a:t>
            </a:r>
            <a:endParaRPr lang="en-US" sz="2200"/>
          </a:p>
          <a:p>
            <a:r>
              <a:rPr lang="en-US" sz="2200"/>
              <a:t>Business Problem</a:t>
            </a:r>
            <a:endParaRPr lang="en-US" sz="2200"/>
          </a:p>
          <a:p>
            <a:r>
              <a:rPr lang="en-US" sz="2200"/>
              <a:t>Objective</a:t>
            </a:r>
            <a:endParaRPr lang="en-US" sz="2200"/>
          </a:p>
          <a:p>
            <a:r>
              <a:rPr lang="en-US" sz="2200"/>
              <a:t>Dataset Overview</a:t>
            </a:r>
            <a:endParaRPr lang="en-US" sz="2200"/>
          </a:p>
          <a:p>
            <a:r>
              <a:rPr lang="en-US" sz="2200"/>
              <a:t>Data Preprocessing</a:t>
            </a:r>
            <a:endParaRPr lang="en-US" sz="2200"/>
          </a:p>
          <a:p>
            <a:r>
              <a:rPr lang="en-US" sz="2200"/>
              <a:t>Architecture Building</a:t>
            </a:r>
            <a:endParaRPr lang="en-US" sz="2200"/>
          </a:p>
          <a:p>
            <a:r>
              <a:rPr lang="en-US" sz="2200"/>
              <a:t>Model Evaluation</a:t>
            </a:r>
            <a:endParaRPr lang="en-US" sz="2200"/>
          </a:p>
          <a:p>
            <a:r>
              <a:rPr lang="en-US" sz="2200"/>
              <a:t>Model Deployment</a:t>
            </a:r>
            <a:endParaRPr lang="en-US" sz="2200"/>
          </a:p>
          <a:p>
            <a:r>
              <a:rPr lang="en-US" sz="2200"/>
              <a:t>Challenges</a:t>
            </a:r>
            <a:endParaRPr lang="en-US" sz="2200"/>
          </a:p>
          <a:p>
            <a:r>
              <a:rPr lang="en-US" sz="2200"/>
              <a:t>Key Insights</a:t>
            </a:r>
            <a:endParaRPr lang="en-US" sz="2200"/>
          </a:p>
          <a:p>
            <a:r>
              <a:rPr lang="en-US" sz="2200"/>
              <a:t>Recommendations</a:t>
            </a:r>
            <a:endParaRPr lang="en-US" sz="2200"/>
          </a:p>
          <a:p>
            <a:r>
              <a:rPr lang="en-US" sz="2200">
                <a:sym typeface="+mn-ea"/>
              </a:rPr>
              <a:t>Conclusion</a:t>
            </a:r>
            <a:endParaRPr lang="en-US" sz="2200"/>
          </a:p>
          <a:p>
            <a:endParaRPr lang="en-US" sz="2000"/>
          </a:p>
          <a:p>
            <a:endParaRPr lang="en-US" sz="2000"/>
          </a:p>
        </p:txBody>
      </p:sp>
      <p:sp>
        <p:nvSpPr>
          <p:cNvPr id="4" name="Footer Placeholder 3"/>
          <p:cNvSpPr>
            <a:spLocks noGrp="1"/>
          </p:cNvSpPr>
          <p:nvPr>
            <p:ph type="ftr" sz="quarter" idx="11"/>
          </p:nvPr>
        </p:nvSpPr>
        <p:spPr/>
        <p:txBody>
          <a:bodyPr/>
          <a:p/>
        </p:txBody>
      </p:sp>
      <p:sp>
        <p:nvSpPr>
          <p:cNvPr id="5" name="Slide Number Placeholder 4"/>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pic>
        <p:nvPicPr>
          <p:cNvPr id="9" name="Picture 8"/>
          <p:cNvPicPr>
            <a:picLocks noChangeAspect="1"/>
          </p:cNvPicPr>
          <p:nvPr/>
        </p:nvPicPr>
        <p:blipFill>
          <a:blip r:embed="rId1"/>
          <a:stretch>
            <a:fillRect/>
          </a:stretch>
        </p:blipFill>
        <p:spPr>
          <a:xfrm>
            <a:off x="5592445" y="1068070"/>
            <a:ext cx="4761865" cy="441579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274955"/>
            <a:ext cx="10972800" cy="1024255"/>
          </a:xfrm>
        </p:spPr>
        <p:txBody>
          <a:bodyPr/>
          <a:p>
            <a:r>
              <a:rPr lang="en-US" b="1">
                <a:solidFill>
                  <a:srgbClr val="FF0000"/>
                </a:solidFill>
              </a:rPr>
              <a:t>Introduction</a:t>
            </a:r>
            <a:endParaRPr lang="en-US" b="1">
              <a:solidFill>
                <a:srgbClr val="FF0000"/>
              </a:solidFill>
            </a:endParaRPr>
          </a:p>
        </p:txBody>
      </p:sp>
      <p:sp>
        <p:nvSpPr>
          <p:cNvPr id="3" name="Content Placeholder 2"/>
          <p:cNvSpPr>
            <a:spLocks noGrp="1"/>
          </p:cNvSpPr>
          <p:nvPr>
            <p:ph idx="1"/>
          </p:nvPr>
        </p:nvSpPr>
        <p:spPr>
          <a:xfrm>
            <a:off x="953770" y="1431925"/>
            <a:ext cx="10265410" cy="4513580"/>
          </a:xfrm>
        </p:spPr>
        <p:txBody>
          <a:bodyPr/>
          <a:p>
            <a:pPr marL="0" indent="0" algn="just">
              <a:lnSpc>
                <a:spcPct val="140000"/>
              </a:lnSpc>
              <a:buNone/>
            </a:pPr>
            <a:r>
              <a:rPr lang="en-US" altLang="en-US" sz="2000">
                <a:latin typeface="Arial" panose="020B0604020202020204" pitchFamily="34" charset="0"/>
                <a:cs typeface="Arial" panose="020B0604020202020204" pitchFamily="34" charset="0"/>
              </a:rPr>
              <a:t>Student Health Risk Prediction is an </a:t>
            </a:r>
            <a:r>
              <a:rPr lang="en-US" altLang="en-US" sz="2000" b="1">
                <a:latin typeface="Arial" panose="020B0604020202020204" pitchFamily="34" charset="0"/>
                <a:cs typeface="Arial" panose="020B0604020202020204" pitchFamily="34" charset="0"/>
              </a:rPr>
              <a:t>Artificial Neural Network</a:t>
            </a:r>
            <a:r>
              <a:rPr lang="en-US" altLang="en-US" sz="2000">
                <a:latin typeface="Arial" panose="020B0604020202020204" pitchFamily="34" charset="0"/>
                <a:cs typeface="Arial" panose="020B0604020202020204" pitchFamily="34" charset="0"/>
              </a:rPr>
              <a:t> (ANN)-based project developed to predict students health risk levels using health, lifestyle, and academic factors such as sleep quality, physical activity, stress level, Body Mass Index (BMI), and academic pressure. Early identification of health risks enables timely interventions and promotes healthier lifestyles, leading to improved well-being and academic performance.</a:t>
            </a:r>
            <a:endParaRPr lang="en-US" altLang="en-US" sz="2000">
              <a:latin typeface="Arial" panose="020B0604020202020204" pitchFamily="34" charset="0"/>
              <a:cs typeface="Arial" panose="020B0604020202020204" pitchFamily="34" charset="0"/>
            </a:endParaRPr>
          </a:p>
          <a:p>
            <a:pPr marL="0" indent="0" algn="just">
              <a:lnSpc>
                <a:spcPct val="140000"/>
              </a:lnSpc>
              <a:buNone/>
            </a:pPr>
            <a:r>
              <a:rPr lang="en-US" altLang="en-US" sz="2000">
                <a:latin typeface="Arial" panose="020B0604020202020204" pitchFamily="34" charset="0"/>
                <a:cs typeface="Arial" panose="020B0604020202020204" pitchFamily="34" charset="0"/>
              </a:rPr>
              <a:t>         The project follows the </a:t>
            </a:r>
            <a:r>
              <a:rPr lang="en-US" altLang="en-US" sz="2000" b="1">
                <a:latin typeface="Arial" panose="020B0604020202020204" pitchFamily="34" charset="0"/>
                <a:cs typeface="Arial" panose="020B0604020202020204" pitchFamily="34" charset="0"/>
              </a:rPr>
              <a:t>CRISP-ML(Q)</a:t>
            </a:r>
            <a:r>
              <a:rPr lang="en-US" altLang="en-US" sz="2000">
                <a:latin typeface="Arial" panose="020B0604020202020204" pitchFamily="34" charset="0"/>
                <a:cs typeface="Arial" panose="020B0604020202020204" pitchFamily="34" charset="0"/>
              </a:rPr>
              <a:t>  methodology, which includes data understanding, preprocessing, ANN architecture design, model evaluation, and deployment. The trained ANN model is integrated into a </a:t>
            </a:r>
            <a:r>
              <a:rPr lang="en-US" altLang="en-US" sz="2000" b="1">
                <a:latin typeface="Arial" panose="020B0604020202020204" pitchFamily="34" charset="0"/>
                <a:cs typeface="Arial" panose="020B0604020202020204" pitchFamily="34" charset="0"/>
              </a:rPr>
              <a:t>Streamlit</a:t>
            </a:r>
            <a:r>
              <a:rPr lang="en-US" altLang="en-US" sz="2000">
                <a:latin typeface="Arial" panose="020B0604020202020204" pitchFamily="34" charset="0"/>
                <a:cs typeface="Arial" panose="020B0604020202020204" pitchFamily="34" charset="0"/>
              </a:rPr>
              <a:t> web application, allowing users to enter student information and receive instant, accurate health risk predictions.</a:t>
            </a:r>
            <a:endParaRPr lang="en-US" altLang="en-US" sz="2000">
              <a:latin typeface="Arial" panose="020B0604020202020204" pitchFamily="34" charset="0"/>
              <a:cs typeface="Arial" panose="020B0604020202020204" pitchFamily="34" charset="0"/>
            </a:endParaRPr>
          </a:p>
          <a:p>
            <a:pPr algn="just">
              <a:lnSpc>
                <a:spcPct val="120000"/>
              </a:lnSpc>
            </a:pPr>
            <a:endParaRPr lang="en-US" altLang="en-US" sz="2000">
              <a:latin typeface="Arial" panose="020B0604020202020204" pitchFamily="34" charset="0"/>
              <a:cs typeface="Arial" panose="020B0604020202020204" pitchFamily="34" charset="0"/>
            </a:endParaRPr>
          </a:p>
        </p:txBody>
      </p:sp>
      <p:sp>
        <p:nvSpPr>
          <p:cNvPr id="4" name="Footer Placeholder 3"/>
          <p:cNvSpPr>
            <a:spLocks noGrp="1"/>
          </p:cNvSpPr>
          <p:nvPr>
            <p:ph type="ftr" sz="quarter" idx="11"/>
          </p:nvPr>
        </p:nvSpPr>
        <p:spPr/>
        <p:txBody>
          <a:bodyPr/>
          <a:p/>
        </p:txBody>
      </p:sp>
      <p:sp>
        <p:nvSpPr>
          <p:cNvPr id="5" name="Slide Number Placeholder 4"/>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310515"/>
            <a:ext cx="10972800" cy="711200"/>
          </a:xfrm>
        </p:spPr>
        <p:txBody>
          <a:bodyPr/>
          <a:p>
            <a:r>
              <a:rPr lang="en-US" b="1" dirty="0">
                <a:solidFill>
                  <a:srgbClr val="FF0000"/>
                </a:solidFill>
                <a:sym typeface="+mn-ea"/>
              </a:rPr>
              <a:t>CRISP-ML(Q)</a:t>
            </a:r>
            <a:endParaRPr lang="en-US" b="1" dirty="0">
              <a:solidFill>
                <a:srgbClr val="FF0000"/>
              </a:solidFill>
              <a:sym typeface="+mn-ea"/>
            </a:endParaRPr>
          </a:p>
        </p:txBody>
      </p:sp>
      <p:sp>
        <p:nvSpPr>
          <p:cNvPr id="3" name="Content Placeholder 2"/>
          <p:cNvSpPr>
            <a:spLocks noGrp="1"/>
          </p:cNvSpPr>
          <p:nvPr>
            <p:ph idx="1"/>
          </p:nvPr>
        </p:nvSpPr>
        <p:spPr>
          <a:xfrm>
            <a:off x="996315" y="1097280"/>
            <a:ext cx="10272395" cy="5036820"/>
          </a:xfrm>
        </p:spPr>
        <p:txBody>
          <a:bodyPr/>
          <a:p>
            <a:pPr marL="25400" indent="0">
              <a:buClr>
                <a:srgbClr val="FF0000"/>
              </a:buClr>
              <a:buSzPts val="2400"/>
              <a:buFont typeface="+mj-lt"/>
              <a:buNone/>
            </a:pPr>
            <a:r>
              <a:rPr lang="en-US" sz="2000" b="1" dirty="0">
                <a:latin typeface="Arial" panose="020B0604020202020204" pitchFamily="34" charset="0"/>
                <a:cs typeface="Arial" panose="020B0604020202020204" pitchFamily="34" charset="0"/>
                <a:sym typeface="+mn-ea"/>
              </a:rPr>
              <a:t> 1.   Business and Data Understanding</a:t>
            </a:r>
            <a:endParaRPr lang="en-US" sz="2000" b="1" dirty="0">
              <a:latin typeface="Arial" panose="020B0604020202020204" pitchFamily="34" charset="0"/>
              <a:cs typeface="Arial" panose="020B0604020202020204" pitchFamily="34" charset="0"/>
              <a:sym typeface="+mn-ea"/>
            </a:endParaRPr>
          </a:p>
          <a:p>
            <a:pPr marL="25400" indent="0">
              <a:buClr>
                <a:srgbClr val="FF0000"/>
              </a:buClr>
              <a:buSzPts val="2400"/>
              <a:buFont typeface="+mj-lt"/>
              <a:buNone/>
            </a:pPr>
            <a:r>
              <a:rPr lang="en-US" sz="2000" dirty="0">
                <a:latin typeface="Arial" panose="020B0604020202020204" pitchFamily="34" charset="0"/>
                <a:cs typeface="Arial" panose="020B0604020202020204" pitchFamily="34" charset="0"/>
                <a:sym typeface="+mn-ea"/>
              </a:rPr>
              <a:t>       </a:t>
            </a:r>
            <a:r>
              <a:rPr lang="en-US" altLang="en-US" sz="2000" dirty="0">
                <a:latin typeface="Arial" panose="020B0604020202020204" pitchFamily="34" charset="0"/>
                <a:cs typeface="Arial" panose="020B0604020202020204" pitchFamily="34" charset="0"/>
                <a:sym typeface="+mn-ea"/>
              </a:rPr>
              <a:t>Defined the objective, explored the dataset, and identified features, target, and data </a:t>
            </a:r>
            <a:endParaRPr lang="en-US" altLang="en-US" sz="2000" dirty="0">
              <a:latin typeface="Arial" panose="020B0604020202020204" pitchFamily="34" charset="0"/>
              <a:cs typeface="Arial" panose="020B0604020202020204" pitchFamily="34" charset="0"/>
              <a:sym typeface="+mn-ea"/>
            </a:endParaRPr>
          </a:p>
          <a:p>
            <a:pPr marL="25400" indent="0">
              <a:buClr>
                <a:srgbClr val="FF0000"/>
              </a:buClr>
              <a:buSzPts val="2400"/>
              <a:buFont typeface="+mj-lt"/>
              <a:buNone/>
            </a:pPr>
            <a:r>
              <a:rPr lang="en-US" altLang="en-US" sz="2000" dirty="0">
                <a:latin typeface="Arial" panose="020B0604020202020204" pitchFamily="34" charset="0"/>
                <a:cs typeface="Arial" panose="020B0604020202020204" pitchFamily="34" charset="0"/>
                <a:sym typeface="+mn-ea"/>
              </a:rPr>
              <a:t>       </a:t>
            </a:r>
            <a:r>
              <a:rPr lang="en-US" altLang="en-US" sz="2000" dirty="0">
                <a:latin typeface="Arial" panose="020B0604020202020204" pitchFamily="34" charset="0"/>
                <a:cs typeface="Arial" panose="020B0604020202020204" pitchFamily="34" charset="0"/>
                <a:sym typeface="+mn-ea"/>
              </a:rPr>
              <a:t>types.</a:t>
            </a:r>
            <a:r>
              <a:rPr lang="en-US" altLang="en-US" sz="2000" dirty="0">
                <a:latin typeface="Arial" panose="020B0604020202020204" pitchFamily="34" charset="0"/>
                <a:cs typeface="Arial" panose="020B0604020202020204" pitchFamily="34" charset="0"/>
                <a:sym typeface="+mn-ea"/>
              </a:rPr>
              <a:t>                       </a:t>
            </a:r>
            <a:endParaRPr lang="en-US" altLang="en-US" sz="2000" dirty="0">
              <a:latin typeface="Arial" panose="020B0604020202020204" pitchFamily="34" charset="0"/>
              <a:cs typeface="Arial" panose="020B0604020202020204" pitchFamily="34" charset="0"/>
              <a:sym typeface="+mn-ea"/>
            </a:endParaRPr>
          </a:p>
          <a:p>
            <a:pPr marL="114300" indent="0">
              <a:buFont typeface="+mj-lt"/>
              <a:buNone/>
            </a:pPr>
            <a:r>
              <a:rPr lang="en-US" sz="2000" b="1" dirty="0">
                <a:latin typeface="Arial" panose="020B0604020202020204" pitchFamily="34" charset="0"/>
                <a:cs typeface="Arial" panose="020B0604020202020204" pitchFamily="34" charset="0"/>
                <a:sym typeface="+mn-ea"/>
              </a:rPr>
              <a:t>2.   Data Preparation</a:t>
            </a:r>
            <a:endParaRPr lang="en-US" sz="2000" b="1" dirty="0">
              <a:latin typeface="Arial" panose="020B0604020202020204" pitchFamily="34" charset="0"/>
              <a:cs typeface="Arial" panose="020B0604020202020204" pitchFamily="34" charset="0"/>
            </a:endParaRPr>
          </a:p>
          <a:p>
            <a:pPr marL="114300" indent="0">
              <a:buNone/>
            </a:pPr>
            <a:r>
              <a:rPr lang="en-US" sz="2000" b="1" dirty="0">
                <a:latin typeface="Arial" panose="020B0604020202020204" pitchFamily="34" charset="0"/>
                <a:cs typeface="Arial" panose="020B0604020202020204" pitchFamily="34" charset="0"/>
                <a:sym typeface="+mn-ea"/>
              </a:rPr>
              <a:t>      </a:t>
            </a:r>
            <a:r>
              <a:rPr lang="en-US" sz="2000" dirty="0">
                <a:latin typeface="Arial" panose="020B0604020202020204" pitchFamily="34" charset="0"/>
                <a:cs typeface="Arial" panose="020B0604020202020204" pitchFamily="34" charset="0"/>
                <a:sym typeface="+mn-ea"/>
              </a:rPr>
              <a:t>Cleaned and transformed the data. </a:t>
            </a:r>
            <a:endParaRPr lang="en-US" sz="2000" dirty="0">
              <a:latin typeface="Arial" panose="020B0604020202020204" pitchFamily="34" charset="0"/>
              <a:cs typeface="Arial" panose="020B0604020202020204" pitchFamily="34" charset="0"/>
            </a:endParaRPr>
          </a:p>
          <a:p>
            <a:pPr marL="114300" indent="0">
              <a:buFont typeface="+mj-lt"/>
              <a:buNone/>
            </a:pPr>
            <a:r>
              <a:rPr lang="en-US" sz="2000" b="1" dirty="0">
                <a:latin typeface="Arial" panose="020B0604020202020204" pitchFamily="34" charset="0"/>
                <a:cs typeface="Arial" panose="020B0604020202020204" pitchFamily="34" charset="0"/>
                <a:sym typeface="+mn-ea"/>
              </a:rPr>
              <a:t>3.   Model Building</a:t>
            </a:r>
            <a:endParaRPr lang="en-US" sz="2000" b="1" dirty="0">
              <a:latin typeface="Arial" panose="020B0604020202020204" pitchFamily="34" charset="0"/>
              <a:cs typeface="Arial" panose="020B0604020202020204" pitchFamily="34" charset="0"/>
              <a:sym typeface="+mn-ea"/>
            </a:endParaRPr>
          </a:p>
          <a:p>
            <a:pPr marL="114300" indent="0">
              <a:buFont typeface="+mj-lt"/>
              <a:buNone/>
            </a:pPr>
            <a:r>
              <a:rPr lang="en-US" sz="2000" dirty="0">
                <a:latin typeface="Arial" panose="020B0604020202020204" pitchFamily="34" charset="0"/>
                <a:cs typeface="Arial" panose="020B0604020202020204" pitchFamily="34" charset="0"/>
                <a:sym typeface="+mn-ea"/>
              </a:rPr>
              <a:t>      </a:t>
            </a:r>
            <a:r>
              <a:rPr lang="en-US" altLang="en-US" sz="2000" dirty="0">
                <a:latin typeface="Arial" panose="020B0604020202020204" pitchFamily="34" charset="0"/>
                <a:cs typeface="Arial" panose="020B0604020202020204" pitchFamily="34" charset="0"/>
                <a:sym typeface="+mn-ea"/>
              </a:rPr>
              <a:t>Developed an ANN with optimized architecture, hyperparameter tuning, and early </a:t>
            </a:r>
            <a:endParaRPr lang="en-US" altLang="en-US" sz="2000" dirty="0">
              <a:latin typeface="Arial" panose="020B0604020202020204" pitchFamily="34" charset="0"/>
              <a:cs typeface="Arial" panose="020B0604020202020204" pitchFamily="34" charset="0"/>
              <a:sym typeface="+mn-ea"/>
            </a:endParaRPr>
          </a:p>
          <a:p>
            <a:pPr marL="114300" indent="0">
              <a:buFont typeface="+mj-lt"/>
              <a:buNone/>
            </a:pPr>
            <a:r>
              <a:rPr lang="en-US" altLang="en-US" sz="2000" dirty="0">
                <a:latin typeface="Arial" panose="020B0604020202020204" pitchFamily="34" charset="0"/>
                <a:cs typeface="Arial" panose="020B0604020202020204" pitchFamily="34" charset="0"/>
                <a:sym typeface="+mn-ea"/>
              </a:rPr>
              <a:t>      </a:t>
            </a:r>
            <a:r>
              <a:rPr lang="en-US" altLang="en-US" sz="2000" dirty="0">
                <a:latin typeface="Arial" panose="020B0604020202020204" pitchFamily="34" charset="0"/>
                <a:cs typeface="Arial" panose="020B0604020202020204" pitchFamily="34" charset="0"/>
                <a:sym typeface="+mn-ea"/>
              </a:rPr>
              <a:t>stopping.</a:t>
            </a:r>
            <a:r>
              <a:rPr lang="en-US" altLang="en-US" sz="2000" dirty="0">
                <a:latin typeface="Arial" panose="020B0604020202020204" pitchFamily="34" charset="0"/>
                <a:cs typeface="Arial" panose="020B0604020202020204" pitchFamily="34" charset="0"/>
                <a:sym typeface="+mn-ea"/>
              </a:rPr>
              <a:t>           </a:t>
            </a:r>
            <a:endParaRPr lang="en-US" altLang="en-US" sz="2000" dirty="0">
              <a:latin typeface="Arial" panose="020B0604020202020204" pitchFamily="34" charset="0"/>
              <a:cs typeface="Arial" panose="020B0604020202020204" pitchFamily="34" charset="0"/>
              <a:sym typeface="+mn-ea"/>
            </a:endParaRPr>
          </a:p>
          <a:p>
            <a:pPr marL="114300" indent="0">
              <a:buFont typeface="+mj-lt"/>
              <a:buNone/>
            </a:pPr>
            <a:r>
              <a:rPr lang="en-US" altLang="en-US" sz="2000" b="1" dirty="0">
                <a:latin typeface="Arial" panose="020B0604020202020204" pitchFamily="34" charset="0"/>
                <a:cs typeface="Arial" panose="020B0604020202020204" pitchFamily="34" charset="0"/>
                <a:sym typeface="+mn-ea"/>
              </a:rPr>
              <a:t>4.</a:t>
            </a:r>
            <a:r>
              <a:rPr lang="en-US" altLang="en-US" sz="2000" dirty="0">
                <a:latin typeface="Arial" panose="020B0604020202020204" pitchFamily="34" charset="0"/>
                <a:cs typeface="Arial" panose="020B0604020202020204" pitchFamily="34" charset="0"/>
                <a:sym typeface="+mn-ea"/>
              </a:rPr>
              <a:t>   </a:t>
            </a:r>
            <a:r>
              <a:rPr lang="en-US" sz="2000" b="1" dirty="0">
                <a:latin typeface="Arial" panose="020B0604020202020204" pitchFamily="34" charset="0"/>
                <a:cs typeface="Arial" panose="020B0604020202020204" pitchFamily="34" charset="0"/>
                <a:sym typeface="+mn-ea"/>
              </a:rPr>
              <a:t>Model Evaluation</a:t>
            </a:r>
            <a:endParaRPr lang="en-US" sz="2000" b="1" dirty="0">
              <a:latin typeface="Arial" panose="020B0604020202020204" pitchFamily="34" charset="0"/>
              <a:cs typeface="Arial" panose="020B0604020202020204" pitchFamily="34" charset="0"/>
            </a:endParaRPr>
          </a:p>
          <a:p>
            <a:pPr marL="114300" indent="0">
              <a:buNone/>
            </a:pPr>
            <a:r>
              <a:rPr lang="en-US" sz="2000" dirty="0">
                <a:latin typeface="Arial" panose="020B0604020202020204" pitchFamily="34" charset="0"/>
                <a:cs typeface="Arial" panose="020B0604020202020204" pitchFamily="34" charset="0"/>
                <a:sym typeface="+mn-ea"/>
              </a:rPr>
              <a:t>      </a:t>
            </a:r>
            <a:r>
              <a:rPr lang="en-US" altLang="en-US" sz="2000" dirty="0">
                <a:latin typeface="Arial" panose="020B0604020202020204" pitchFamily="34" charset="0"/>
                <a:cs typeface="Arial" panose="020B0604020202020204" pitchFamily="34" charset="0"/>
                <a:sym typeface="+mn-ea"/>
              </a:rPr>
              <a:t>Evaluated the ANN using Accuracy, Precision, Recall, F1-Score.</a:t>
            </a:r>
            <a:endParaRPr lang="en-US" altLang="en-US" sz="2000" dirty="0">
              <a:latin typeface="Arial" panose="020B0604020202020204" pitchFamily="34" charset="0"/>
              <a:cs typeface="Arial" panose="020B0604020202020204" pitchFamily="34" charset="0"/>
              <a:sym typeface="+mn-ea"/>
            </a:endParaRPr>
          </a:p>
          <a:p>
            <a:pPr marL="571500" indent="-457200">
              <a:buFont typeface="+mj-lt"/>
              <a:buAutoNum type="arabicPeriod" startAt="5"/>
            </a:pPr>
            <a:r>
              <a:rPr lang="en-US" sz="2000" b="1" dirty="0">
                <a:latin typeface="Arial" panose="020B0604020202020204" pitchFamily="34" charset="0"/>
                <a:cs typeface="Arial" panose="020B0604020202020204" pitchFamily="34" charset="0"/>
                <a:sym typeface="+mn-ea"/>
              </a:rPr>
              <a:t>Model Deployment</a:t>
            </a:r>
            <a:endParaRPr lang="en-US" sz="2000" dirty="0">
              <a:latin typeface="Arial" panose="020B0604020202020204" pitchFamily="34" charset="0"/>
              <a:cs typeface="Arial" panose="020B0604020202020204" pitchFamily="34" charset="0"/>
            </a:endParaRPr>
          </a:p>
          <a:p>
            <a:pPr marL="114300" indent="0">
              <a:buNone/>
            </a:pPr>
            <a:r>
              <a:rPr lang="en-US" sz="2000" dirty="0">
                <a:latin typeface="Arial" panose="020B0604020202020204" pitchFamily="34" charset="0"/>
                <a:cs typeface="Arial" panose="020B0604020202020204" pitchFamily="34" charset="0"/>
                <a:sym typeface="+mn-ea"/>
              </a:rPr>
              <a:t>      </a:t>
            </a:r>
            <a:r>
              <a:rPr lang="en-US" altLang="en-US" sz="2000" dirty="0">
                <a:latin typeface="Arial" panose="020B0604020202020204" pitchFamily="34" charset="0"/>
                <a:cs typeface="Arial" panose="020B0604020202020204" pitchFamily="34" charset="0"/>
                <a:sym typeface="+mn-ea"/>
              </a:rPr>
              <a:t>Built a Streamlit application for real-time student health risk prediction.</a:t>
            </a:r>
            <a:endParaRPr lang="en-US" altLang="en-US" sz="2000" dirty="0">
              <a:latin typeface="Arial" panose="020B0604020202020204" pitchFamily="34" charset="0"/>
              <a:cs typeface="Arial" panose="020B0604020202020204" pitchFamily="34" charset="0"/>
              <a:sym typeface="+mn-ea"/>
            </a:endParaRPr>
          </a:p>
          <a:p>
            <a:pPr marL="571500" indent="-457200">
              <a:buFont typeface="+mj-lt"/>
              <a:buAutoNum type="arabicPeriod" startAt="6"/>
            </a:pPr>
            <a:r>
              <a:rPr lang="en-US" sz="2000" b="1" dirty="0">
                <a:latin typeface="Arial" panose="020B0604020202020204" pitchFamily="34" charset="0"/>
                <a:cs typeface="Arial" panose="020B0604020202020204" pitchFamily="34" charset="0"/>
                <a:sym typeface="+mn-ea"/>
              </a:rPr>
              <a:t>Monitoring &amp; Maintenance</a:t>
            </a:r>
            <a:endParaRPr lang="en-US" sz="2000" dirty="0">
              <a:latin typeface="Arial" panose="020B0604020202020204" pitchFamily="34" charset="0"/>
              <a:cs typeface="Arial" panose="020B0604020202020204" pitchFamily="34" charset="0"/>
            </a:endParaRPr>
          </a:p>
          <a:p>
            <a:pPr marL="114300" indent="0">
              <a:buNone/>
            </a:pPr>
            <a:r>
              <a:rPr lang="en-US" sz="2000" dirty="0">
                <a:latin typeface="Arial" panose="020B0604020202020204" pitchFamily="34" charset="0"/>
                <a:cs typeface="Arial" panose="020B0604020202020204" pitchFamily="34" charset="0"/>
                <a:sym typeface="+mn-ea"/>
              </a:rPr>
              <a:t>       Continuous monitoring and improving the model.</a:t>
            </a:r>
            <a:endParaRPr lang="en-US" sz="2000" dirty="0">
              <a:latin typeface="Arial" panose="020B0604020202020204" pitchFamily="34" charset="0"/>
              <a:cs typeface="Arial" panose="020B0604020202020204" pitchFamily="34" charset="0"/>
            </a:endParaRPr>
          </a:p>
          <a:p>
            <a:endParaRPr lang="en-US" sz="2000">
              <a:latin typeface="Arial" panose="020B0604020202020204" pitchFamily="34" charset="0"/>
              <a:cs typeface="Arial" panose="020B0604020202020204" pitchFamily="34" charset="0"/>
            </a:endParaRPr>
          </a:p>
        </p:txBody>
      </p:sp>
      <p:sp>
        <p:nvSpPr>
          <p:cNvPr id="4" name="Footer Placeholder 3"/>
          <p:cNvSpPr>
            <a:spLocks noGrp="1"/>
          </p:cNvSpPr>
          <p:nvPr>
            <p:ph type="ftr" sz="quarter" idx="11"/>
          </p:nvPr>
        </p:nvSpPr>
        <p:spPr/>
        <p:txBody>
          <a:bodyPr/>
          <a:p/>
        </p:txBody>
      </p:sp>
      <p:sp>
        <p:nvSpPr>
          <p:cNvPr id="5" name="Slide Number Placeholder 4"/>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274955"/>
            <a:ext cx="10972800" cy="843915"/>
          </a:xfrm>
        </p:spPr>
        <p:txBody>
          <a:bodyPr/>
          <a:p>
            <a:r>
              <a:rPr lang="en-US" b="1">
                <a:solidFill>
                  <a:srgbClr val="FF0000"/>
                </a:solidFill>
              </a:rPr>
              <a:t>Business Problem</a:t>
            </a:r>
            <a:endParaRPr lang="en-US" b="1">
              <a:solidFill>
                <a:srgbClr val="FF0000"/>
              </a:solidFill>
            </a:endParaRPr>
          </a:p>
        </p:txBody>
      </p:sp>
      <p:sp>
        <p:nvSpPr>
          <p:cNvPr id="3" name="Content Placeholder 2"/>
          <p:cNvSpPr>
            <a:spLocks noGrp="1"/>
          </p:cNvSpPr>
          <p:nvPr>
            <p:ph idx="1"/>
          </p:nvPr>
        </p:nvSpPr>
        <p:spPr>
          <a:xfrm>
            <a:off x="979170" y="1305560"/>
            <a:ext cx="10104120" cy="4723765"/>
          </a:xfrm>
        </p:spPr>
        <p:txBody>
          <a:bodyPr/>
          <a:p>
            <a:pPr marL="0" indent="0" algn="just">
              <a:lnSpc>
                <a:spcPct val="140000"/>
              </a:lnSpc>
              <a:buNone/>
            </a:pPr>
            <a:r>
              <a:rPr lang="en-US" altLang="en-US" sz="2000"/>
              <a:t>Educational institutions often face challenges in identifying students who are at risk of developing health problems due to factors such as poor sleep habits, unhealthy eating patterns, lack of physical activity, excessive screen time, high stress levels, and academic pressure. Delayed identification of health risks can negatively affect students academic performance, attendance, and overall well-being. Manual monitoring is time-consuming and often identifies problems only after they become severe.</a:t>
            </a:r>
            <a:endParaRPr lang="en-US" altLang="en-US" sz="2000"/>
          </a:p>
        </p:txBody>
      </p:sp>
      <p:sp>
        <p:nvSpPr>
          <p:cNvPr id="4" name="Footer Placeholder 3"/>
          <p:cNvSpPr>
            <a:spLocks noGrp="1"/>
          </p:cNvSpPr>
          <p:nvPr>
            <p:ph type="ftr" sz="quarter" idx="11"/>
          </p:nvPr>
        </p:nvSpPr>
        <p:spPr/>
        <p:txBody>
          <a:bodyPr/>
          <a:p/>
        </p:txBody>
      </p:sp>
      <p:sp>
        <p:nvSpPr>
          <p:cNvPr id="5" name="Slide Number Placeholder 4"/>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274955"/>
            <a:ext cx="10972800" cy="1063625"/>
          </a:xfrm>
        </p:spPr>
        <p:txBody>
          <a:bodyPr/>
          <a:p>
            <a:r>
              <a:rPr lang="en-US" b="1">
                <a:solidFill>
                  <a:srgbClr val="FF0000"/>
                </a:solidFill>
              </a:rPr>
              <a:t>Objective</a:t>
            </a:r>
            <a:endParaRPr lang="en-US" b="1">
              <a:solidFill>
                <a:srgbClr val="FF0000"/>
              </a:solidFill>
            </a:endParaRPr>
          </a:p>
        </p:txBody>
      </p:sp>
      <p:sp>
        <p:nvSpPr>
          <p:cNvPr id="3" name="Content Placeholder 2"/>
          <p:cNvSpPr>
            <a:spLocks noGrp="1"/>
          </p:cNvSpPr>
          <p:nvPr>
            <p:ph idx="1"/>
          </p:nvPr>
        </p:nvSpPr>
        <p:spPr>
          <a:xfrm>
            <a:off x="1109345" y="1444625"/>
            <a:ext cx="9919970" cy="4681855"/>
          </a:xfrm>
        </p:spPr>
        <p:txBody>
          <a:bodyPr/>
          <a:p>
            <a:pPr marL="0" indent="0" algn="just">
              <a:lnSpc>
                <a:spcPct val="140000"/>
              </a:lnSpc>
              <a:buNone/>
            </a:pPr>
            <a:r>
              <a:rPr lang="en-US" altLang="en-US" sz="2000">
                <a:sym typeface="+mn-ea"/>
              </a:rPr>
              <a:t>The primary objective of this project is to support early health risk prediction, encourage preventive healthcare, and contribute to improved student well-being. </a:t>
            </a:r>
            <a:endParaRPr lang="en-US" altLang="en-US" sz="2000">
              <a:sym typeface="+mn-ea"/>
            </a:endParaRPr>
          </a:p>
          <a:p>
            <a:pPr marL="0" indent="0" algn="just">
              <a:lnSpc>
                <a:spcPct val="140000"/>
              </a:lnSpc>
              <a:buNone/>
            </a:pPr>
            <a:r>
              <a:rPr lang="en-US" altLang="en-US" sz="2000">
                <a:sym typeface="+mn-ea"/>
              </a:rPr>
              <a:t>          By providing timely and accurate predictions, reducing future health complications, and creating a healthier academic environment.                                                                                                                                                                                                                                                                                                                                                                                                                                                                                                                                                                                                                                                                                                                                                                                                                                                                                                                                                                                                                                                                                                                                                                                                                                                                                                                                                                                                                                                                                                                                                                                                                                                                                                                                                                                                                                                                                                                                                                                                                                                                                                                                                                                                                                                                                                                                                                                                                                                                                                                                                                                                                                                                                                                                                                                                                                                                                                                                                                                                                                                                                                                                                                                                                                                                                                                                                                                                                                                                                                                                                                                                                                                                                                                                                                                                                                                                                                                                                                                                                                                                                                                                                                                                                                                                                                                                                                                                                                                                                                                                                                                                                                                                                                                                 </a:t>
            </a:r>
            <a:endParaRPr lang="en-US" altLang="en-US" sz="2000"/>
          </a:p>
          <a:p>
            <a:pPr algn="just">
              <a:lnSpc>
                <a:spcPct val="130000"/>
              </a:lnSpc>
              <a:buFont typeface="Wingdings" panose="05000000000000000000" charset="0"/>
              <a:buChar char="Ø"/>
            </a:pPr>
            <a:r>
              <a:rPr lang="en-US" altLang="en-US" sz="2000"/>
              <a:t>Predict student health risk accurately.</a:t>
            </a:r>
            <a:endParaRPr lang="en-US" altLang="en-US" sz="2000"/>
          </a:p>
          <a:p>
            <a:pPr algn="just">
              <a:lnSpc>
                <a:spcPct val="130000"/>
              </a:lnSpc>
              <a:buFont typeface="Wingdings" panose="05000000000000000000" charset="0"/>
              <a:buChar char="Ø"/>
            </a:pPr>
            <a:r>
              <a:rPr lang="en-US" altLang="en-US" sz="2000"/>
              <a:t>Identify at-risk students early.</a:t>
            </a:r>
            <a:endParaRPr lang="en-US" altLang="en-US" sz="2000"/>
          </a:p>
          <a:p>
            <a:pPr algn="just">
              <a:lnSpc>
                <a:spcPct val="130000"/>
              </a:lnSpc>
              <a:buFont typeface="Wingdings" panose="05000000000000000000" charset="0"/>
              <a:buChar char="Ø"/>
            </a:pPr>
            <a:r>
              <a:rPr lang="en-US" altLang="en-US" sz="2000"/>
              <a:t>Support healthcare and counseling decisions.</a:t>
            </a:r>
            <a:endParaRPr lang="en-US" altLang="en-US" sz="2000"/>
          </a:p>
          <a:p>
            <a:pPr algn="just">
              <a:lnSpc>
                <a:spcPct val="130000"/>
              </a:lnSpc>
              <a:buFont typeface="Wingdings" panose="05000000000000000000" charset="0"/>
              <a:buChar char="Ø"/>
            </a:pPr>
            <a:r>
              <a:rPr lang="en-US" altLang="en-US" sz="2000"/>
              <a:t>Improve student well-being and academic outcomes.</a:t>
            </a:r>
            <a:endParaRPr lang="en-US" altLang="en-US" sz="2000"/>
          </a:p>
        </p:txBody>
      </p:sp>
      <p:sp>
        <p:nvSpPr>
          <p:cNvPr id="4" name="Footer Placeholder 3"/>
          <p:cNvSpPr>
            <a:spLocks noGrp="1"/>
          </p:cNvSpPr>
          <p:nvPr>
            <p:ph type="ftr" sz="quarter" idx="11"/>
          </p:nvPr>
        </p:nvSpPr>
        <p:spPr/>
        <p:txBody>
          <a:bodyPr/>
          <a:p/>
        </p:txBody>
      </p:sp>
      <p:sp>
        <p:nvSpPr>
          <p:cNvPr id="5" name="Slide Number Placeholder 4"/>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274955"/>
            <a:ext cx="10972800" cy="1016000"/>
          </a:xfrm>
        </p:spPr>
        <p:txBody>
          <a:bodyPr/>
          <a:p>
            <a:r>
              <a:rPr lang="en-US" b="1">
                <a:solidFill>
                  <a:srgbClr val="FF0000"/>
                </a:solidFill>
              </a:rPr>
              <a:t>Dataset Overview</a:t>
            </a:r>
            <a:endParaRPr lang="en-US" b="1">
              <a:solidFill>
                <a:srgbClr val="FF0000"/>
              </a:solidFill>
            </a:endParaRPr>
          </a:p>
        </p:txBody>
      </p:sp>
      <p:sp>
        <p:nvSpPr>
          <p:cNvPr id="4" name="Footer Placeholder 3"/>
          <p:cNvSpPr>
            <a:spLocks noGrp="1"/>
          </p:cNvSpPr>
          <p:nvPr>
            <p:ph type="ftr" sz="quarter" idx="11"/>
          </p:nvPr>
        </p:nvSpPr>
        <p:spPr/>
        <p:txBody>
          <a:bodyPr/>
          <a:p/>
        </p:txBody>
      </p:sp>
      <p:sp>
        <p:nvSpPr>
          <p:cNvPr id="5" name="Slide Number Placeholder 4"/>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
        <p:nvSpPr>
          <p:cNvPr id="7" name="Text Box 6"/>
          <p:cNvSpPr txBox="1"/>
          <p:nvPr/>
        </p:nvSpPr>
        <p:spPr>
          <a:xfrm>
            <a:off x="1146175" y="1527810"/>
            <a:ext cx="5872480" cy="4589780"/>
          </a:xfrm>
          <a:prstGeom prst="rect">
            <a:avLst/>
          </a:prstGeom>
          <a:noFill/>
        </p:spPr>
        <p:txBody>
          <a:bodyPr wrap="square" rtlCol="0">
            <a:noAutofit/>
          </a:bodyPr>
          <a:p>
            <a:endParaRPr lang="en-US" altLang="en-US" sz="2000"/>
          </a:p>
          <a:p>
            <a:endParaRPr lang="en-US" altLang="en-US" sz="2000"/>
          </a:p>
        </p:txBody>
      </p:sp>
      <p:sp>
        <p:nvSpPr>
          <p:cNvPr id="11" name="Content Placeholder 10"/>
          <p:cNvSpPr/>
          <p:nvPr>
            <p:ph idx="1"/>
            <p:custDataLst>
              <p:tags r:id="rId1"/>
            </p:custDataLst>
          </p:nvPr>
        </p:nvSpPr>
        <p:spPr>
          <a:xfrm>
            <a:off x="975995" y="1290320"/>
            <a:ext cx="10128250" cy="4836160"/>
          </a:xfrm>
        </p:spPr>
        <p:txBody>
          <a:bodyPr/>
          <a:p>
            <a:pPr marL="0" indent="0" algn="just">
              <a:lnSpc>
                <a:spcPct val="150000"/>
              </a:lnSpc>
              <a:buFont typeface="Wingdings" panose="05000000000000000000" charset="0"/>
              <a:buNone/>
            </a:pPr>
            <a:r>
              <a:rPr lang="en-US" altLang="en-US" sz="2000">
                <a:latin typeface="Arial" panose="020B0604020202020204" pitchFamily="34" charset="0"/>
                <a:cs typeface="Arial" panose="020B0604020202020204" pitchFamily="34" charset="0"/>
              </a:rPr>
              <a:t>Student health dataset containing health, lifestyle, and behavioral parameters. It includes both numerical and categorical features.</a:t>
            </a:r>
            <a:endParaRPr lang="en-US" altLang="en-US" sz="2000">
              <a:latin typeface="Arial" panose="020B0604020202020204" pitchFamily="34" charset="0"/>
              <a:cs typeface="Arial" panose="020B0604020202020204" pitchFamily="34" charset="0"/>
            </a:endParaRPr>
          </a:p>
          <a:p>
            <a:pPr algn="just">
              <a:lnSpc>
                <a:spcPct val="110000"/>
              </a:lnSpc>
              <a:buFont typeface="Wingdings" panose="05000000000000000000" charset="0"/>
              <a:buChar char="Ø"/>
            </a:pPr>
            <a:r>
              <a:rPr lang="en-US" altLang="en-US" sz="2000" b="1">
                <a:latin typeface="Arial" panose="020B0604020202020204" pitchFamily="34" charset="0"/>
                <a:cs typeface="Arial" panose="020B0604020202020204" pitchFamily="34" charset="0"/>
              </a:rPr>
              <a:t>Features:</a:t>
            </a:r>
            <a:r>
              <a:rPr lang="en-US" altLang="en-US" sz="2000">
                <a:latin typeface="Arial" panose="020B0604020202020204" pitchFamily="34" charset="0"/>
                <a:cs typeface="Arial" panose="020B0604020202020204" pitchFamily="34" charset="0"/>
              </a:rPr>
              <a:t> Sleep Duration, Heart Rate, BMI, Calorie Expenditure, Step Count, Exercise Duration, Water Intake, Diet Type, Stress Level, Sleep Quality, Physical Activity Level, Smoking &amp; Alcohol, Gender, etc.</a:t>
            </a:r>
            <a:endParaRPr lang="en-US" altLang="en-US" sz="2000">
              <a:latin typeface="Arial" panose="020B0604020202020204" pitchFamily="34" charset="0"/>
              <a:cs typeface="Arial" panose="020B0604020202020204" pitchFamily="34" charset="0"/>
            </a:endParaRPr>
          </a:p>
          <a:p>
            <a:pPr algn="just">
              <a:lnSpc>
                <a:spcPct val="110000"/>
              </a:lnSpc>
              <a:buFont typeface="Wingdings" panose="05000000000000000000" charset="0"/>
              <a:buChar char="Ø"/>
            </a:pPr>
            <a:r>
              <a:rPr lang="en-US" altLang="en-US" sz="2000" b="1">
                <a:latin typeface="Arial" panose="020B0604020202020204" pitchFamily="34" charset="0"/>
                <a:cs typeface="Arial" panose="020B0604020202020204" pitchFamily="34" charset="0"/>
              </a:rPr>
              <a:t>Target Feature:</a:t>
            </a:r>
            <a:r>
              <a:rPr lang="en-US" altLang="en-US" sz="2000">
                <a:latin typeface="Arial" panose="020B0604020202020204" pitchFamily="34" charset="0"/>
                <a:cs typeface="Arial" panose="020B0604020202020204" pitchFamily="34" charset="0"/>
              </a:rPr>
              <a:t> Health Condition</a:t>
            </a:r>
            <a:endParaRPr lang="en-US" altLang="en-US" sz="2000">
              <a:latin typeface="Arial" panose="020B0604020202020204" pitchFamily="34" charset="0"/>
              <a:cs typeface="Arial" panose="020B0604020202020204" pitchFamily="34" charset="0"/>
            </a:endParaRPr>
          </a:p>
          <a:p>
            <a:pPr algn="just">
              <a:lnSpc>
                <a:spcPct val="110000"/>
              </a:lnSpc>
              <a:buFont typeface="Wingdings" panose="05000000000000000000" charset="0"/>
              <a:buChar char="Ø"/>
            </a:pPr>
            <a:r>
              <a:rPr lang="en-US" altLang="en-US" sz="2000" b="1">
                <a:latin typeface="Arial" panose="020B0604020202020204" pitchFamily="34" charset="0"/>
                <a:cs typeface="Arial" panose="020B0604020202020204" pitchFamily="34" charset="0"/>
              </a:rPr>
              <a:t>Data Type: </a:t>
            </a:r>
            <a:r>
              <a:rPr lang="en-US" altLang="en-US" sz="2000">
                <a:latin typeface="Arial" panose="020B0604020202020204" pitchFamily="34" charset="0"/>
                <a:cs typeface="Arial" panose="020B0604020202020204" pitchFamily="34" charset="0"/>
              </a:rPr>
              <a:t>Mixed (Categorical + Numerical)</a:t>
            </a:r>
            <a:endParaRPr lang="en-US" altLang="en-US" sz="2000">
              <a:latin typeface="Arial" panose="020B0604020202020204" pitchFamily="34" charset="0"/>
              <a:cs typeface="Arial" panose="020B0604020202020204" pitchFamily="34" charset="0"/>
            </a:endParaRPr>
          </a:p>
          <a:p>
            <a:pPr algn="just">
              <a:lnSpc>
                <a:spcPct val="110000"/>
              </a:lnSpc>
              <a:buFont typeface="Wingdings" panose="05000000000000000000" charset="0"/>
              <a:buChar char="Ø"/>
            </a:pPr>
            <a:r>
              <a:rPr lang="en-US" altLang="en-US" sz="2000" b="1">
                <a:latin typeface="Arial" panose="020B0604020202020204" pitchFamily="34" charset="0"/>
                <a:cs typeface="Arial" panose="020B0604020202020204" pitchFamily="34" charset="0"/>
              </a:rPr>
              <a:t>Problem Type</a:t>
            </a:r>
            <a:r>
              <a:rPr lang="en-US" altLang="en-US" sz="2000">
                <a:latin typeface="Arial" panose="020B0604020202020204" pitchFamily="34" charset="0"/>
                <a:cs typeface="Arial" panose="020B0604020202020204" pitchFamily="34" charset="0"/>
              </a:rPr>
              <a:t>: Multi-Class Classification</a:t>
            </a:r>
            <a:endParaRPr lang="en-US" altLang="en-US" sz="2000">
              <a:latin typeface="Arial" panose="020B0604020202020204" pitchFamily="34" charset="0"/>
              <a:cs typeface="Arial" panose="020B0604020202020204" pitchFamily="34" charset="0"/>
            </a:endParaRPr>
          </a:p>
          <a:p>
            <a:pPr algn="just">
              <a:lnSpc>
                <a:spcPct val="110000"/>
              </a:lnSpc>
              <a:buFont typeface="Wingdings" panose="05000000000000000000" charset="0"/>
              <a:buChar char="Ø"/>
            </a:pPr>
            <a:r>
              <a:rPr lang="en-US" altLang="en-US" sz="2000" b="1">
                <a:latin typeface="Arial" panose="020B0604020202020204" pitchFamily="34" charset="0"/>
                <a:cs typeface="Arial" panose="020B0604020202020204" pitchFamily="34" charset="0"/>
              </a:rPr>
              <a:t>Target Classes:</a:t>
            </a:r>
            <a:r>
              <a:rPr lang="en-US" altLang="en-US" sz="2000">
                <a:latin typeface="Arial" panose="020B0604020202020204" pitchFamily="34" charset="0"/>
                <a:cs typeface="Arial" panose="020B0604020202020204" pitchFamily="34" charset="0"/>
              </a:rPr>
              <a:t> Fit, At-Risk, Unhealthy</a:t>
            </a:r>
            <a:endParaRPr lang="en-US" altLang="en-US" sz="2000">
              <a:latin typeface="Arial" panose="020B0604020202020204" pitchFamily="34" charset="0"/>
              <a:cs typeface="Arial" panose="020B0604020202020204" pitchFamily="34" charset="0"/>
            </a:endParaRPr>
          </a:p>
          <a:p>
            <a:pPr algn="just">
              <a:lnSpc>
                <a:spcPct val="110000"/>
              </a:lnSpc>
              <a:buFont typeface="Wingdings" panose="05000000000000000000" charset="0"/>
              <a:buChar char="Ø"/>
            </a:pPr>
            <a:r>
              <a:rPr lang="en-US" altLang="en-US" sz="2000" b="1">
                <a:latin typeface="Arial" panose="020B0604020202020204" pitchFamily="34" charset="0"/>
                <a:cs typeface="Arial" panose="020B0604020202020204" pitchFamily="34" charset="0"/>
              </a:rPr>
              <a:t>Total Records:</a:t>
            </a:r>
            <a:r>
              <a:rPr lang="en-US" altLang="en-US" sz="2000">
                <a:latin typeface="Arial" panose="020B0604020202020204" pitchFamily="34" charset="0"/>
                <a:cs typeface="Arial" panose="020B0604020202020204" pitchFamily="34" charset="0"/>
              </a:rPr>
              <a:t> 690,088</a:t>
            </a:r>
            <a:endParaRPr lang="en-US" altLang="en-US" sz="2000">
              <a:latin typeface="Arial" panose="020B0604020202020204" pitchFamily="34" charset="0"/>
              <a:cs typeface="Arial" panose="020B0604020202020204" pitchFamily="34" charset="0"/>
            </a:endParaRPr>
          </a:p>
          <a:p>
            <a:pPr algn="just">
              <a:lnSpc>
                <a:spcPct val="110000"/>
              </a:lnSpc>
              <a:buFont typeface="Wingdings" panose="05000000000000000000" charset="0"/>
              <a:buChar char="Ø"/>
            </a:pPr>
            <a:r>
              <a:rPr lang="en-US" altLang="en-US" sz="2000" b="1">
                <a:latin typeface="Arial" panose="020B0604020202020204" pitchFamily="34" charset="0"/>
                <a:cs typeface="Arial" panose="020B0604020202020204" pitchFamily="34" charset="0"/>
              </a:rPr>
              <a:t>Total Columns:</a:t>
            </a:r>
            <a:r>
              <a:rPr lang="en-US" altLang="en-US" sz="2000">
                <a:latin typeface="Arial" panose="020B0604020202020204" pitchFamily="34" charset="0"/>
                <a:cs typeface="Arial" panose="020B0604020202020204" pitchFamily="34" charset="0"/>
              </a:rPr>
              <a:t> 15 (14 features + 1 target)</a:t>
            </a:r>
            <a:endParaRPr lang="en-US" altLang="en-US" sz="2000">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itle 5"/>
          <p:cNvSpPr>
            <a:spLocks noGrp="1"/>
          </p:cNvSpPr>
          <p:nvPr>
            <p:ph type="title"/>
          </p:nvPr>
        </p:nvSpPr>
        <p:spPr>
          <a:xfrm>
            <a:off x="1130300" y="274955"/>
            <a:ext cx="9944735" cy="789940"/>
          </a:xfrm>
        </p:spPr>
        <p:txBody>
          <a:bodyPr/>
          <a:p>
            <a:r>
              <a:rPr lang="en-US" altLang="en-US" sz="4000" b="1">
                <a:solidFill>
                  <a:srgbClr val="FF0000"/>
                </a:solidFill>
              </a:rPr>
              <a:t>Data Pre-processing</a:t>
            </a:r>
            <a:endParaRPr lang="en-US" altLang="en-US" sz="4000" b="1">
              <a:solidFill>
                <a:srgbClr val="FF0000"/>
              </a:solidFill>
            </a:endParaRPr>
          </a:p>
        </p:txBody>
      </p:sp>
      <p:sp>
        <p:nvSpPr>
          <p:cNvPr id="7" name="Content Placeholder 6"/>
          <p:cNvSpPr>
            <a:spLocks noGrp="1"/>
          </p:cNvSpPr>
          <p:nvPr>
            <p:ph sz="half" idx="1"/>
          </p:nvPr>
        </p:nvSpPr>
        <p:spPr>
          <a:xfrm>
            <a:off x="1008380" y="1064895"/>
            <a:ext cx="10204450" cy="5281295"/>
          </a:xfrm>
        </p:spPr>
        <p:txBody>
          <a:bodyPr/>
          <a:p>
            <a:pPr>
              <a:lnSpc>
                <a:spcPct val="120000"/>
              </a:lnSpc>
              <a:buFont typeface="Wingdings" panose="05000000000000000000" charset="0"/>
              <a:buChar char="v"/>
            </a:pPr>
            <a:r>
              <a:rPr lang="en-US" altLang="en-US" sz="1600" b="1">
                <a:latin typeface="Arial" panose="020B0604020202020204" pitchFamily="34" charset="0"/>
                <a:cs typeface="Arial" panose="020B0604020202020204" pitchFamily="34" charset="0"/>
                <a:sym typeface="+mn-ea"/>
              </a:rPr>
              <a:t>Removed unnecessary column:</a:t>
            </a:r>
            <a:r>
              <a:rPr lang="en-US" altLang="en-US" sz="1600">
                <a:latin typeface="Arial" panose="020B0604020202020204" pitchFamily="34" charset="0"/>
                <a:cs typeface="Arial" panose="020B0604020202020204" pitchFamily="34" charset="0"/>
                <a:sym typeface="+mn-ea"/>
              </a:rPr>
              <a:t> Student_ID</a:t>
            </a:r>
            <a:endParaRPr lang="en-US" altLang="en-US" sz="1600">
              <a:latin typeface="Arial" panose="020B0604020202020204" pitchFamily="34" charset="0"/>
              <a:cs typeface="Arial" panose="020B0604020202020204" pitchFamily="34" charset="0"/>
              <a:sym typeface="+mn-ea"/>
            </a:endParaRPr>
          </a:p>
          <a:p>
            <a:pPr>
              <a:lnSpc>
                <a:spcPct val="120000"/>
              </a:lnSpc>
              <a:buFont typeface="Wingdings" panose="05000000000000000000" charset="0"/>
              <a:buChar char="v"/>
            </a:pPr>
            <a:r>
              <a:rPr lang="en-US" altLang="en-US" sz="1600">
                <a:latin typeface="Arial" panose="020B0604020202020204" pitchFamily="34" charset="0"/>
                <a:cs typeface="Arial" panose="020B0604020202020204" pitchFamily="34" charset="0"/>
                <a:sym typeface="+mn-ea"/>
              </a:rPr>
              <a:t>Separated features into Input (X) and Target Variable (Health_Condition).</a:t>
            </a:r>
            <a:endParaRPr lang="en-US" altLang="en-US" sz="1600">
              <a:latin typeface="Arial" panose="020B0604020202020204" pitchFamily="34" charset="0"/>
              <a:cs typeface="Arial" panose="020B0604020202020204" pitchFamily="34" charset="0"/>
              <a:sym typeface="+mn-ea"/>
            </a:endParaRPr>
          </a:p>
          <a:p>
            <a:pPr>
              <a:lnSpc>
                <a:spcPct val="120000"/>
              </a:lnSpc>
              <a:buFont typeface="Wingdings" panose="05000000000000000000" charset="0"/>
              <a:buChar char="v"/>
            </a:pPr>
            <a:r>
              <a:rPr lang="en-US" altLang="en-US" sz="1600" b="1">
                <a:latin typeface="Arial" panose="020B0604020202020204" pitchFamily="34" charset="0"/>
                <a:cs typeface="Arial" panose="020B0604020202020204" pitchFamily="34" charset="0"/>
                <a:sym typeface="+mn-ea"/>
              </a:rPr>
              <a:t>Encoded categorical variables:</a:t>
            </a:r>
            <a:endParaRPr lang="en-US" altLang="en-US" sz="1600" b="1">
              <a:latin typeface="Arial" panose="020B0604020202020204" pitchFamily="34" charset="0"/>
              <a:cs typeface="Arial" panose="020B0604020202020204" pitchFamily="34" charset="0"/>
              <a:sym typeface="+mn-ea"/>
            </a:endParaRPr>
          </a:p>
          <a:p>
            <a:pPr>
              <a:lnSpc>
                <a:spcPct val="120000"/>
              </a:lnSpc>
              <a:buFont typeface="Wingdings" panose="05000000000000000000" charset="0"/>
              <a:buChar char="v"/>
            </a:pPr>
            <a:r>
              <a:rPr lang="en-US" altLang="en-US" sz="1600" b="1">
                <a:latin typeface="Arial" panose="020B0604020202020204" pitchFamily="34" charset="0"/>
                <a:cs typeface="Arial" panose="020B0604020202020204" pitchFamily="34" charset="0"/>
                <a:sym typeface="+mn-ea"/>
              </a:rPr>
              <a:t>One-Hot Encoding for nominal features:</a:t>
            </a:r>
            <a:r>
              <a:rPr lang="en-US" altLang="en-US" sz="1600">
                <a:latin typeface="Arial" panose="020B0604020202020204" pitchFamily="34" charset="0"/>
                <a:cs typeface="Arial" panose="020B0604020202020204" pitchFamily="34" charset="0"/>
                <a:sym typeface="+mn-ea"/>
              </a:rPr>
              <a:t> Gender, Diet_Type, Physical_Activity_Level, Smoking_Status, Alcohol_Consumption</a:t>
            </a:r>
            <a:endParaRPr lang="en-US" altLang="en-US" sz="1600">
              <a:latin typeface="Arial" panose="020B0604020202020204" pitchFamily="34" charset="0"/>
              <a:cs typeface="Arial" panose="020B0604020202020204" pitchFamily="34" charset="0"/>
              <a:sym typeface="+mn-ea"/>
            </a:endParaRPr>
          </a:p>
          <a:p>
            <a:pPr>
              <a:lnSpc>
                <a:spcPct val="120000"/>
              </a:lnSpc>
              <a:buFont typeface="Wingdings" panose="05000000000000000000" charset="0"/>
              <a:buChar char="v"/>
            </a:pPr>
            <a:r>
              <a:rPr lang="en-US" altLang="en-US" sz="1600" b="1">
                <a:latin typeface="Arial" panose="020B0604020202020204" pitchFamily="34" charset="0"/>
                <a:cs typeface="Arial" panose="020B0604020202020204" pitchFamily="34" charset="0"/>
                <a:sym typeface="+mn-ea"/>
              </a:rPr>
              <a:t>Ordinal Encoding for ordered features:</a:t>
            </a:r>
            <a:r>
              <a:rPr lang="en-US" altLang="en-US" sz="1600">
                <a:latin typeface="Arial" panose="020B0604020202020204" pitchFamily="34" charset="0"/>
                <a:cs typeface="Arial" panose="020B0604020202020204" pitchFamily="34" charset="0"/>
                <a:sym typeface="+mn-ea"/>
              </a:rPr>
              <a:t> Stress_Level (Low, Medium, High) and Sleep_Quality (Poor, Average, Good)</a:t>
            </a:r>
            <a:endParaRPr lang="en-US" altLang="en-US" sz="1600">
              <a:latin typeface="Arial" panose="020B0604020202020204" pitchFamily="34" charset="0"/>
              <a:cs typeface="Arial" panose="020B0604020202020204" pitchFamily="34" charset="0"/>
              <a:sym typeface="+mn-ea"/>
            </a:endParaRPr>
          </a:p>
          <a:p>
            <a:pPr>
              <a:lnSpc>
                <a:spcPct val="120000"/>
              </a:lnSpc>
              <a:buFont typeface="Wingdings" panose="05000000000000000000" charset="0"/>
              <a:buChar char="v"/>
            </a:pPr>
            <a:r>
              <a:rPr lang="en-US" altLang="en-US" sz="1600" b="1">
                <a:latin typeface="Arial" panose="020B0604020202020204" pitchFamily="34" charset="0"/>
                <a:cs typeface="Arial" panose="020B0604020202020204" pitchFamily="34" charset="0"/>
                <a:sym typeface="+mn-ea"/>
              </a:rPr>
              <a:t>Applied Label Encoding to the target feature:</a:t>
            </a:r>
            <a:r>
              <a:rPr lang="en-US" altLang="en-US" sz="1600">
                <a:latin typeface="Arial" panose="020B0604020202020204" pitchFamily="34" charset="0"/>
                <a:cs typeface="Arial" panose="020B0604020202020204" pitchFamily="34" charset="0"/>
                <a:sym typeface="+mn-ea"/>
              </a:rPr>
              <a:t> Health_Condition (Fit, At-Risk, Unhealthy).</a:t>
            </a:r>
            <a:endParaRPr lang="en-US" altLang="en-US" sz="1600">
              <a:latin typeface="Arial" panose="020B0604020202020204" pitchFamily="34" charset="0"/>
              <a:cs typeface="Arial" panose="020B0604020202020204" pitchFamily="34" charset="0"/>
              <a:sym typeface="+mn-ea"/>
            </a:endParaRPr>
          </a:p>
          <a:p>
            <a:pPr>
              <a:lnSpc>
                <a:spcPct val="120000"/>
              </a:lnSpc>
              <a:buFont typeface="Wingdings" panose="05000000000000000000" charset="0"/>
              <a:buChar char="v"/>
            </a:pPr>
            <a:r>
              <a:rPr lang="en-US" altLang="en-US" sz="1600">
                <a:latin typeface="Arial" panose="020B0604020202020204" pitchFamily="34" charset="0"/>
                <a:cs typeface="Arial" panose="020B0604020202020204" pitchFamily="34" charset="0"/>
                <a:sym typeface="+mn-ea"/>
              </a:rPr>
              <a:t>Scaled numerical features using StandardScaler.</a:t>
            </a:r>
            <a:endParaRPr lang="en-US" altLang="en-US" sz="1600">
              <a:latin typeface="Arial" panose="020B0604020202020204" pitchFamily="34" charset="0"/>
              <a:cs typeface="Arial" panose="020B0604020202020204" pitchFamily="34" charset="0"/>
              <a:sym typeface="+mn-ea"/>
            </a:endParaRPr>
          </a:p>
          <a:p>
            <a:pPr>
              <a:lnSpc>
                <a:spcPct val="120000"/>
              </a:lnSpc>
              <a:buFont typeface="Wingdings" panose="05000000000000000000" charset="0"/>
              <a:buChar char="v"/>
            </a:pPr>
            <a:r>
              <a:rPr lang="en-US" altLang="en-US" sz="1600" b="1">
                <a:latin typeface="Arial" panose="020B0604020202020204" pitchFamily="34" charset="0"/>
                <a:cs typeface="Arial" panose="020B0604020202020204" pitchFamily="34" charset="0"/>
                <a:sym typeface="+mn-ea"/>
              </a:rPr>
              <a:t>Created separate preprocessing pipelines for:</a:t>
            </a:r>
            <a:endParaRPr lang="en-US" altLang="en-US" sz="1600" b="1">
              <a:latin typeface="Arial" panose="020B0604020202020204" pitchFamily="34" charset="0"/>
              <a:cs typeface="Arial" panose="020B0604020202020204" pitchFamily="34" charset="0"/>
              <a:sym typeface="+mn-ea"/>
            </a:endParaRPr>
          </a:p>
          <a:p>
            <a:pPr marL="0" indent="0">
              <a:lnSpc>
                <a:spcPct val="120000"/>
              </a:lnSpc>
              <a:buNone/>
            </a:pPr>
            <a:r>
              <a:rPr lang="en-US" altLang="en-US" sz="1600">
                <a:latin typeface="Arial" panose="020B0604020202020204" pitchFamily="34" charset="0"/>
                <a:cs typeface="Arial" panose="020B0604020202020204" pitchFamily="34" charset="0"/>
                <a:sym typeface="+mn-ea"/>
              </a:rPr>
              <a:t>      Numerical features, Nominal features, Ordinal features</a:t>
            </a:r>
            <a:endParaRPr lang="en-US" altLang="en-US" sz="1600">
              <a:latin typeface="Arial" panose="020B0604020202020204" pitchFamily="34" charset="0"/>
              <a:cs typeface="Arial" panose="020B0604020202020204" pitchFamily="34" charset="0"/>
              <a:sym typeface="+mn-ea"/>
            </a:endParaRPr>
          </a:p>
          <a:p>
            <a:pPr marL="0" indent="0">
              <a:lnSpc>
                <a:spcPct val="120000"/>
              </a:lnSpc>
              <a:buNone/>
            </a:pPr>
            <a:r>
              <a:rPr lang="en-US" altLang="en-US" sz="1600">
                <a:latin typeface="Arial" panose="020B0604020202020204" pitchFamily="34" charset="0"/>
                <a:cs typeface="Arial" panose="020B0604020202020204" pitchFamily="34" charset="0"/>
                <a:sym typeface="+mn-ea"/>
              </a:rPr>
              <a:t>      Combined all preprocessing steps using ColumnTransformer and Pipeline for efficient data transformation.</a:t>
            </a:r>
            <a:endParaRPr lang="en-US" altLang="en-US" sz="1600">
              <a:latin typeface="Arial" panose="020B0604020202020204" pitchFamily="34" charset="0"/>
              <a:cs typeface="Arial" panose="020B0604020202020204" pitchFamily="34" charset="0"/>
              <a:sym typeface="+mn-ea"/>
            </a:endParaRPr>
          </a:p>
          <a:p>
            <a:pPr>
              <a:lnSpc>
                <a:spcPct val="120000"/>
              </a:lnSpc>
              <a:buFont typeface="Wingdings" panose="05000000000000000000" charset="0"/>
              <a:buChar char="v"/>
            </a:pPr>
            <a:r>
              <a:rPr lang="en-US" altLang="en-US" sz="1600" b="1">
                <a:latin typeface="Arial" panose="020B0604020202020204" pitchFamily="34" charset="0"/>
                <a:cs typeface="Arial" panose="020B0604020202020204" pitchFamily="34" charset="0"/>
                <a:sym typeface="+mn-ea"/>
              </a:rPr>
              <a:t>Performed Train-Test Split:</a:t>
            </a:r>
            <a:endParaRPr lang="en-US" altLang="en-US" sz="1600" b="1">
              <a:latin typeface="Arial" panose="020B0604020202020204" pitchFamily="34" charset="0"/>
              <a:cs typeface="Arial" panose="020B0604020202020204" pitchFamily="34" charset="0"/>
              <a:sym typeface="+mn-ea"/>
            </a:endParaRPr>
          </a:p>
          <a:p>
            <a:pPr marL="0" indent="0">
              <a:lnSpc>
                <a:spcPct val="120000"/>
              </a:lnSpc>
              <a:buNone/>
            </a:pPr>
            <a:r>
              <a:rPr lang="en-US" altLang="en-US" sz="1600">
                <a:latin typeface="Arial" panose="020B0604020202020204" pitchFamily="34" charset="0"/>
                <a:cs typeface="Arial" panose="020B0604020202020204" pitchFamily="34" charset="0"/>
                <a:sym typeface="+mn-ea"/>
              </a:rPr>
              <a:t>      80% Training Data, 20% Testing Data</a:t>
            </a:r>
            <a:endParaRPr lang="en-US" altLang="en-US" sz="1600">
              <a:latin typeface="Arial" panose="020B0604020202020204" pitchFamily="34" charset="0"/>
              <a:cs typeface="Arial" panose="020B0604020202020204" pitchFamily="34" charset="0"/>
              <a:sym typeface="+mn-ea"/>
            </a:endParaRPr>
          </a:p>
          <a:p>
            <a:pPr>
              <a:lnSpc>
                <a:spcPct val="120000"/>
              </a:lnSpc>
              <a:buFont typeface="Wingdings" panose="05000000000000000000" charset="0"/>
              <a:buChar char="v"/>
            </a:pPr>
            <a:r>
              <a:rPr lang="en-US" altLang="en-US" sz="1600">
                <a:latin typeface="Arial" panose="020B0604020202020204" pitchFamily="34" charset="0"/>
                <a:cs typeface="Arial" panose="020B0604020202020204" pitchFamily="34" charset="0"/>
                <a:sym typeface="+mn-ea"/>
              </a:rPr>
              <a:t>Applied Class Weights to handle class imbalance during ANN training.</a:t>
            </a:r>
            <a:endParaRPr lang="en-US" altLang="en-US" sz="1600">
              <a:latin typeface="Arial" panose="020B0604020202020204" pitchFamily="34" charset="0"/>
              <a:cs typeface="Arial" panose="020B0604020202020204" pitchFamily="34" charset="0"/>
              <a:sym typeface="+mn-ea"/>
            </a:endParaRPr>
          </a:p>
        </p:txBody>
      </p:sp>
      <p:sp>
        <p:nvSpPr>
          <p:cNvPr id="4" name="Footer Placeholder 3"/>
          <p:cNvSpPr>
            <a:spLocks noGrp="1"/>
          </p:cNvSpPr>
          <p:nvPr>
            <p:ph type="ftr" sz="quarter" idx="11"/>
          </p:nvPr>
        </p:nvSpPr>
        <p:spPr/>
        <p:txBody>
          <a:bodyPr/>
          <a:p/>
        </p:txBody>
      </p:sp>
      <p:sp>
        <p:nvSpPr>
          <p:cNvPr id="5" name="Slide Number Placeholder 4"/>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1040765" y="791845"/>
            <a:ext cx="10259695" cy="5434965"/>
          </a:xfrm>
        </p:spPr>
        <p:txBody>
          <a:bodyPr/>
          <a:p>
            <a:pPr algn="l">
              <a:lnSpc>
                <a:spcPct val="100000"/>
              </a:lnSpc>
            </a:pPr>
            <a:r>
              <a:rPr lang="en-US" altLang="en-US" sz="1800" b="1"/>
              <a:t>Numerical Features:-</a:t>
            </a:r>
            <a:r>
              <a:rPr lang="en-US" altLang="en-US" sz="1800"/>
              <a:t>age,ratings,vehicle_condition,multiple_deliveries,order_day,order_month</a:t>
            </a:r>
            <a:endParaRPr lang="en-US" altLang="en-US" sz="1800"/>
          </a:p>
          <a:p>
            <a:pPr marL="0" indent="0" algn="l">
              <a:lnSpc>
                <a:spcPct val="100000"/>
              </a:lnSpc>
              <a:buNone/>
            </a:pPr>
            <a:r>
              <a:rPr lang="en-US" altLang="en-US" sz="1800"/>
              <a:t>     is_weekend,pickup_time_minutes,order_time_hour,distance</a:t>
            </a:r>
            <a:endParaRPr lang="en-US" altLang="en-US" sz="1800"/>
          </a:p>
          <a:p>
            <a:pPr algn="l">
              <a:lnSpc>
                <a:spcPct val="100000"/>
              </a:lnSpc>
              <a:buFont typeface="Arial" panose="020B0604020202020204" pitchFamily="34" charset="0"/>
              <a:buChar char="•"/>
            </a:pPr>
            <a:r>
              <a:rPr lang="en-US" altLang="en-US" sz="1800" b="1"/>
              <a:t>Ordinal Features:- </a:t>
            </a:r>
            <a:endParaRPr lang="en-US" altLang="en-US" sz="1800" b="1"/>
          </a:p>
          <a:p>
            <a:pPr marL="0" indent="0" algn="l">
              <a:lnSpc>
                <a:spcPct val="100000"/>
              </a:lnSpc>
              <a:buFont typeface="Arial" panose="020B0604020202020204" pitchFamily="34" charset="0"/>
              <a:buNone/>
            </a:pPr>
            <a:r>
              <a:rPr lang="en-US" altLang="en-US" sz="1800"/>
              <a:t>     traffic,city_type</a:t>
            </a:r>
            <a:endParaRPr lang="en-US" altLang="en-US" sz="1800"/>
          </a:p>
          <a:p>
            <a:pPr algn="l">
              <a:lnSpc>
                <a:spcPct val="100000"/>
              </a:lnSpc>
            </a:pPr>
            <a:r>
              <a:rPr lang="en-US" altLang="en-US" sz="1800" b="1"/>
              <a:t>Nominal Features:-</a:t>
            </a:r>
            <a:endParaRPr lang="en-US" altLang="en-US" sz="1800" b="1"/>
          </a:p>
          <a:p>
            <a:pPr marL="0" indent="0" algn="l">
              <a:lnSpc>
                <a:spcPct val="100000"/>
              </a:lnSpc>
              <a:buNone/>
            </a:pPr>
            <a:r>
              <a:rPr lang="en-US" altLang="en-US" sz="1800"/>
              <a:t>     weather,type_of_order,type_of_vehicle,festival,city_name,order_day_of_week,</a:t>
            </a:r>
            <a:endParaRPr lang="en-US" altLang="en-US" sz="1800"/>
          </a:p>
          <a:p>
            <a:pPr marL="0" indent="0" algn="l">
              <a:lnSpc>
                <a:spcPct val="100000"/>
              </a:lnSpc>
              <a:buNone/>
            </a:pPr>
            <a:r>
              <a:rPr lang="en-US" altLang="en-US" sz="1800"/>
              <a:t>     order_time_of_day</a:t>
            </a:r>
            <a:endParaRPr lang="en-US" altLang="en-US" sz="1800"/>
          </a:p>
          <a:p>
            <a:pPr algn="l">
              <a:lnSpc>
                <a:spcPct val="100000"/>
              </a:lnSpc>
            </a:pPr>
            <a:r>
              <a:rPr lang="en-US" sz="1800" b="1" dirty="0">
                <a:latin typeface="Calibri" panose="020F0502020204030204" charset="0"/>
                <a:ea typeface="Calibri" panose="020F0502020204030204" charset="0"/>
                <a:cs typeface="Calibri" panose="020F0502020204030204" charset="0"/>
                <a:sym typeface="+mn-ea"/>
              </a:rPr>
              <a:t>Created separate pipelines for: </a:t>
            </a:r>
            <a:endParaRPr lang="en-US" sz="1800" b="1" dirty="0">
              <a:latin typeface="Calibri" panose="020F0502020204030204" charset="0"/>
              <a:ea typeface="Calibri" panose="020F0502020204030204" charset="0"/>
              <a:cs typeface="Calibri" panose="020F0502020204030204" charset="0"/>
            </a:endParaRPr>
          </a:p>
          <a:p>
            <a:pPr marL="0" indent="0" algn="l">
              <a:lnSpc>
                <a:spcPct val="100000"/>
              </a:lnSpc>
              <a:buNone/>
            </a:pPr>
            <a:r>
              <a:rPr lang="en-US" sz="1800" dirty="0">
                <a:latin typeface="Calibri" panose="020F0502020204030204" charset="0"/>
                <a:ea typeface="Calibri" panose="020F0502020204030204" charset="0"/>
                <a:cs typeface="Calibri" panose="020F0502020204030204" charset="0"/>
                <a:sym typeface="+mn-ea"/>
              </a:rPr>
              <a:t>      Numerical features </a:t>
            </a:r>
            <a:endParaRPr lang="en-US" sz="1800" dirty="0">
              <a:latin typeface="Calibri" panose="020F0502020204030204" charset="0"/>
              <a:ea typeface="Calibri" panose="020F0502020204030204" charset="0"/>
              <a:cs typeface="Calibri" panose="020F0502020204030204" charset="0"/>
              <a:sym typeface="+mn-ea"/>
            </a:endParaRPr>
          </a:p>
          <a:p>
            <a:pPr marL="0" indent="0" algn="l">
              <a:lnSpc>
                <a:spcPct val="100000"/>
              </a:lnSpc>
              <a:buNone/>
            </a:pPr>
            <a:r>
              <a:rPr lang="en-US" sz="1800" dirty="0">
                <a:latin typeface="Calibri" panose="020F0502020204030204" charset="0"/>
                <a:ea typeface="Calibri" panose="020F0502020204030204" charset="0"/>
                <a:cs typeface="Calibri" panose="020F0502020204030204" charset="0"/>
                <a:sym typeface="+mn-ea"/>
              </a:rPr>
              <a:t>      Nominal features </a:t>
            </a:r>
            <a:endParaRPr lang="en-US" sz="1800" dirty="0">
              <a:latin typeface="Calibri" panose="020F0502020204030204" charset="0"/>
              <a:ea typeface="Calibri" panose="020F0502020204030204" charset="0"/>
              <a:cs typeface="Calibri" panose="020F0502020204030204" charset="0"/>
              <a:sym typeface="+mn-ea"/>
            </a:endParaRPr>
          </a:p>
          <a:p>
            <a:pPr marL="0" indent="0" algn="l">
              <a:lnSpc>
                <a:spcPct val="100000"/>
              </a:lnSpc>
              <a:buNone/>
            </a:pPr>
            <a:r>
              <a:rPr lang="en-US" sz="1800" dirty="0">
                <a:latin typeface="Calibri" panose="020F0502020204030204" charset="0"/>
                <a:ea typeface="Calibri" panose="020F0502020204030204" charset="0"/>
                <a:cs typeface="Calibri" panose="020F0502020204030204" charset="0"/>
                <a:sym typeface="+mn-ea"/>
              </a:rPr>
              <a:t>      Ordinal features </a:t>
            </a:r>
            <a:endParaRPr lang="en-US" sz="1800" dirty="0">
              <a:latin typeface="Calibri" panose="020F0502020204030204" charset="0"/>
              <a:ea typeface="Calibri" panose="020F0502020204030204" charset="0"/>
              <a:cs typeface="Calibri" panose="020F0502020204030204" charset="0"/>
              <a:sym typeface="+mn-ea"/>
            </a:endParaRPr>
          </a:p>
          <a:p>
            <a:pPr algn="l">
              <a:lnSpc>
                <a:spcPct val="100000"/>
              </a:lnSpc>
            </a:pPr>
            <a:r>
              <a:rPr lang="en-US" altLang="en-US" sz="1800"/>
              <a:t>Applied all transformations using ColumnTransformer and Pipeline for efficient</a:t>
            </a:r>
            <a:endParaRPr lang="en-US" altLang="en-US" sz="1800"/>
          </a:p>
          <a:p>
            <a:pPr marL="0" indent="0" algn="l">
              <a:lnSpc>
                <a:spcPct val="100000"/>
              </a:lnSpc>
              <a:buNone/>
            </a:pPr>
            <a:r>
              <a:rPr lang="en-US" altLang="en-US" sz="1800"/>
              <a:t>     preprocessing.</a:t>
            </a:r>
            <a:endParaRPr lang="en-US" altLang="en-US" sz="1800"/>
          </a:p>
          <a:p>
            <a:pPr algn="l">
              <a:lnSpc>
                <a:spcPct val="100000"/>
              </a:lnSpc>
            </a:pPr>
            <a:r>
              <a:rPr lang="en-US" sz="1800" b="1" dirty="0">
                <a:latin typeface="Calibri" panose="020F0502020204030204" charset="0"/>
                <a:ea typeface="Calibri" panose="020F0502020204030204" charset="0"/>
                <a:cs typeface="Calibri" panose="020F0502020204030204" charset="0"/>
                <a:sym typeface="+mn-ea"/>
              </a:rPr>
              <a:t>Train-Test Split:- </a:t>
            </a:r>
            <a:r>
              <a:rPr lang="en-US" sz="1800" dirty="0">
                <a:latin typeface="Calibri" panose="020F0502020204030204" charset="0"/>
                <a:ea typeface="Calibri" panose="020F0502020204030204" charset="0"/>
                <a:cs typeface="Calibri" panose="020F0502020204030204" charset="0"/>
                <a:sym typeface="+mn-ea"/>
              </a:rPr>
              <a:t>80% Training Data ,20% Testing Data </a:t>
            </a:r>
            <a:endParaRPr lang="en-US" sz="1800" dirty="0">
              <a:latin typeface="Calibri" panose="020F0502020204030204" charset="0"/>
              <a:ea typeface="Calibri" panose="020F0502020204030204" charset="0"/>
              <a:cs typeface="Calibri" panose="020F0502020204030204" charset="0"/>
            </a:endParaRPr>
          </a:p>
          <a:p>
            <a:pPr marL="0" indent="0" algn="l">
              <a:lnSpc>
                <a:spcPct val="100000"/>
              </a:lnSpc>
              <a:buNone/>
            </a:pPr>
            <a:endParaRPr lang="en-US" altLang="en-US" sz="1800" b="1"/>
          </a:p>
          <a:p>
            <a:pPr marL="0" indent="0" algn="l">
              <a:lnSpc>
                <a:spcPct val="100000"/>
              </a:lnSpc>
              <a:buNone/>
            </a:pPr>
            <a:endParaRPr lang="en-US" altLang="en-US" sz="1800" b="1"/>
          </a:p>
        </p:txBody>
      </p:sp>
      <p:sp>
        <p:nvSpPr>
          <p:cNvPr id="5" name="Footer Placeholder 4"/>
          <p:cNvSpPr>
            <a:spLocks noGrp="1"/>
          </p:cNvSpPr>
          <p:nvPr>
            <p:ph type="ftr" sz="quarter" idx="11"/>
          </p:nvPr>
        </p:nvSpPr>
        <p:spPr/>
        <p:txBody>
          <a:bodyPr/>
          <a:p/>
        </p:txBody>
      </p:sp>
      <p:sp>
        <p:nvSpPr>
          <p:cNvPr id="6" name="Slide Number Placeholder 5"/>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ooter Placeholder 3"/>
          <p:cNvSpPr>
            <a:spLocks noGrp="1"/>
          </p:cNvSpPr>
          <p:nvPr>
            <p:ph type="ftr" sz="quarter" idx="11"/>
          </p:nvPr>
        </p:nvSpPr>
        <p:spPr/>
        <p:txBody>
          <a:bodyPr/>
          <a:p/>
        </p:txBody>
      </p:sp>
      <p:sp>
        <p:nvSpPr>
          <p:cNvPr id="5" name="Slide Number Placeholder 4"/>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
        <p:nvSpPr>
          <p:cNvPr id="2" name="Content Placeholder 1"/>
          <p:cNvSpPr/>
          <p:nvPr>
            <p:ph idx="1"/>
          </p:nvPr>
        </p:nvSpPr>
        <p:spPr>
          <a:xfrm>
            <a:off x="974725" y="1513840"/>
            <a:ext cx="10110470" cy="4612640"/>
          </a:xfrm>
        </p:spPr>
        <p:txBody>
          <a:bodyPr/>
          <a:p>
            <a:pPr marL="0" indent="0" algn="just">
              <a:buNone/>
            </a:pPr>
            <a:endParaRPr lang="en-US" altLang="en-US" sz="1800"/>
          </a:p>
          <a:p>
            <a:pPr algn="just"/>
            <a:endParaRPr lang="en-US" altLang="en-US" sz="1800"/>
          </a:p>
        </p:txBody>
      </p:sp>
      <p:sp>
        <p:nvSpPr>
          <p:cNvPr id="6" name="Text Box 5"/>
          <p:cNvSpPr txBox="1"/>
          <p:nvPr/>
        </p:nvSpPr>
        <p:spPr>
          <a:xfrm>
            <a:off x="974725" y="459740"/>
            <a:ext cx="10165080" cy="692150"/>
          </a:xfrm>
          <a:prstGeom prst="rect">
            <a:avLst/>
          </a:prstGeom>
          <a:noFill/>
        </p:spPr>
        <p:txBody>
          <a:bodyPr wrap="square" rtlCol="0">
            <a:noAutofit/>
          </a:bodyPr>
          <a:p>
            <a:pPr algn="ctr"/>
            <a:r>
              <a:rPr lang="en-US" altLang="en-US" sz="4400" b="1">
                <a:solidFill>
                  <a:srgbClr val="FF0000"/>
                </a:solidFill>
              </a:rPr>
              <a:t>Architecture Building</a:t>
            </a:r>
            <a:endParaRPr lang="en-US" altLang="en-US" sz="4400" b="1">
              <a:solidFill>
                <a:srgbClr val="FF0000"/>
              </a:solidFill>
            </a:endParaRPr>
          </a:p>
        </p:txBody>
      </p:sp>
      <p:sp>
        <p:nvSpPr>
          <p:cNvPr id="3" name="Text Box 2"/>
          <p:cNvSpPr txBox="1"/>
          <p:nvPr/>
        </p:nvSpPr>
        <p:spPr>
          <a:xfrm>
            <a:off x="991235" y="1214755"/>
            <a:ext cx="10093960" cy="4817110"/>
          </a:xfrm>
          <a:prstGeom prst="rect">
            <a:avLst/>
          </a:prstGeom>
          <a:noFill/>
        </p:spPr>
        <p:txBody>
          <a:bodyPr wrap="square" rtlCol="0">
            <a:noAutofit/>
          </a:bodyPr>
          <a:p>
            <a:endParaRPr lang="en-US"/>
          </a:p>
        </p:txBody>
      </p:sp>
      <p:sp>
        <p:nvSpPr>
          <p:cNvPr id="7" name="Text Box 6"/>
          <p:cNvSpPr txBox="1"/>
          <p:nvPr/>
        </p:nvSpPr>
        <p:spPr>
          <a:xfrm>
            <a:off x="877570" y="1262380"/>
            <a:ext cx="10412095" cy="4865370"/>
          </a:xfrm>
          <a:prstGeom prst="rect">
            <a:avLst/>
          </a:prstGeom>
          <a:noFill/>
        </p:spPr>
        <p:txBody>
          <a:bodyPr wrap="square" rtlCol="0">
            <a:noAutofit/>
          </a:bodyPr>
          <a:p>
            <a:pPr marL="342900" indent="-342900" eaLnBrk="0" fontAlgn="base" hangingPunct="0">
              <a:lnSpc>
                <a:spcPct val="130000"/>
              </a:lnSpc>
              <a:spcBef>
                <a:spcPct val="0"/>
              </a:spcBef>
              <a:spcAft>
                <a:spcPct val="0"/>
              </a:spcAft>
              <a:buClrTx/>
              <a:buFont typeface="Wingdings" panose="05000000000000000000" charset="0"/>
              <a:buChar char="§"/>
            </a:pPr>
            <a:r>
              <a:rPr lang="en-US" altLang="en-US" sz="2000">
                <a:latin typeface="Arial" panose="020B0604020202020204" pitchFamily="34" charset="0"/>
                <a:cs typeface="Arial" panose="020B0604020202020204" pitchFamily="34" charset="0"/>
              </a:rPr>
              <a:t>Built an Artificial Neural Network (ANN) for multi-class health risk classification.</a:t>
            </a:r>
            <a:endParaRPr lang="en-US" altLang="en-US" sz="2000">
              <a:latin typeface="Arial" panose="020B0604020202020204" pitchFamily="34" charset="0"/>
              <a:cs typeface="Arial" panose="020B0604020202020204" pitchFamily="34" charset="0"/>
            </a:endParaRPr>
          </a:p>
          <a:p>
            <a:pPr marL="342900" indent="-342900" eaLnBrk="0" fontAlgn="base" hangingPunct="0">
              <a:lnSpc>
                <a:spcPct val="130000"/>
              </a:lnSpc>
              <a:spcBef>
                <a:spcPct val="0"/>
              </a:spcBef>
              <a:spcAft>
                <a:spcPct val="0"/>
              </a:spcAft>
              <a:buClrTx/>
              <a:buFont typeface="Wingdings" panose="05000000000000000000" charset="0"/>
              <a:buChar char="§"/>
            </a:pPr>
            <a:r>
              <a:rPr lang="en-US" altLang="en-US" sz="2000" b="1">
                <a:latin typeface="Arial" panose="020B0604020202020204" pitchFamily="34" charset="0"/>
                <a:cs typeface="Arial" panose="020B0604020202020204" pitchFamily="34" charset="0"/>
              </a:rPr>
              <a:t>Input Layer:</a:t>
            </a:r>
            <a:r>
              <a:rPr lang="en-US" altLang="en-US" sz="2000">
                <a:latin typeface="Arial" panose="020B0604020202020204" pitchFamily="34" charset="0"/>
                <a:cs typeface="Arial" panose="020B0604020202020204" pitchFamily="34" charset="0"/>
              </a:rPr>
              <a:t> Receives preprocessed student features.</a:t>
            </a:r>
            <a:endParaRPr lang="en-US" altLang="en-US" sz="2000">
              <a:latin typeface="Arial" panose="020B0604020202020204" pitchFamily="34" charset="0"/>
              <a:cs typeface="Arial" panose="020B0604020202020204" pitchFamily="34" charset="0"/>
            </a:endParaRPr>
          </a:p>
          <a:p>
            <a:pPr marL="342900" indent="-342900" eaLnBrk="0" fontAlgn="base" hangingPunct="0">
              <a:lnSpc>
                <a:spcPct val="130000"/>
              </a:lnSpc>
              <a:spcBef>
                <a:spcPct val="0"/>
              </a:spcBef>
              <a:spcAft>
                <a:spcPct val="0"/>
              </a:spcAft>
              <a:buClrTx/>
              <a:buFont typeface="Wingdings" panose="05000000000000000000" charset="0"/>
              <a:buChar char="§"/>
            </a:pPr>
            <a:r>
              <a:rPr lang="en-US" altLang="en-US" sz="2000" b="1">
                <a:latin typeface="Arial" panose="020B0604020202020204" pitchFamily="34" charset="0"/>
                <a:cs typeface="Arial" panose="020B0604020202020204" pitchFamily="34" charset="0"/>
              </a:rPr>
              <a:t>Hidden Layers:</a:t>
            </a:r>
            <a:r>
              <a:rPr lang="en-US" altLang="en-US" sz="2000">
                <a:latin typeface="Arial" panose="020B0604020202020204" pitchFamily="34" charset="0"/>
                <a:cs typeface="Arial" panose="020B0604020202020204" pitchFamily="34" charset="0"/>
              </a:rPr>
              <a:t> 5 Dense layers with 41, 38, 50, 58, and 37 neurons using ReLU activation.</a:t>
            </a:r>
            <a:endParaRPr lang="en-US" altLang="en-US" sz="2000">
              <a:latin typeface="Arial" panose="020B0604020202020204" pitchFamily="34" charset="0"/>
              <a:cs typeface="Arial" panose="020B0604020202020204" pitchFamily="34" charset="0"/>
            </a:endParaRPr>
          </a:p>
          <a:p>
            <a:pPr marL="342900" indent="-342900" eaLnBrk="0" fontAlgn="base" hangingPunct="0">
              <a:lnSpc>
                <a:spcPct val="130000"/>
              </a:lnSpc>
              <a:spcBef>
                <a:spcPct val="0"/>
              </a:spcBef>
              <a:spcAft>
                <a:spcPct val="0"/>
              </a:spcAft>
              <a:buClrTx/>
              <a:buFont typeface="Wingdings" panose="05000000000000000000" charset="0"/>
              <a:buChar char="§"/>
            </a:pPr>
            <a:r>
              <a:rPr lang="en-US" altLang="en-US" sz="2000">
                <a:latin typeface="Arial" panose="020B0604020202020204" pitchFamily="34" charset="0"/>
                <a:cs typeface="Arial" panose="020B0604020202020204" pitchFamily="34" charset="0"/>
              </a:rPr>
              <a:t>Applied He Normal Initialization for efficient weight initialization.</a:t>
            </a:r>
            <a:endParaRPr lang="en-US" altLang="en-US" sz="2000">
              <a:latin typeface="Arial" panose="020B0604020202020204" pitchFamily="34" charset="0"/>
              <a:cs typeface="Arial" panose="020B0604020202020204" pitchFamily="34" charset="0"/>
            </a:endParaRPr>
          </a:p>
          <a:p>
            <a:pPr marL="342900" indent="-342900" eaLnBrk="0" fontAlgn="base" hangingPunct="0">
              <a:lnSpc>
                <a:spcPct val="130000"/>
              </a:lnSpc>
              <a:spcBef>
                <a:spcPct val="0"/>
              </a:spcBef>
              <a:spcAft>
                <a:spcPct val="0"/>
              </a:spcAft>
              <a:buClrTx/>
              <a:buFont typeface="Wingdings" panose="05000000000000000000" charset="0"/>
              <a:buChar char="§"/>
            </a:pPr>
            <a:r>
              <a:rPr lang="en-US" altLang="en-US" sz="2000">
                <a:latin typeface="Arial" panose="020B0604020202020204" pitchFamily="34" charset="0"/>
                <a:cs typeface="Arial" panose="020B0604020202020204" pitchFamily="34" charset="0"/>
              </a:rPr>
              <a:t>Used L1-L2 Regularization to reduce overfitting.</a:t>
            </a:r>
            <a:endParaRPr lang="en-US" altLang="en-US" sz="2000">
              <a:latin typeface="Arial" panose="020B0604020202020204" pitchFamily="34" charset="0"/>
              <a:cs typeface="Arial" panose="020B0604020202020204" pitchFamily="34" charset="0"/>
            </a:endParaRPr>
          </a:p>
          <a:p>
            <a:pPr marL="342900" indent="-342900" eaLnBrk="0" fontAlgn="base" hangingPunct="0">
              <a:lnSpc>
                <a:spcPct val="130000"/>
              </a:lnSpc>
              <a:spcBef>
                <a:spcPct val="0"/>
              </a:spcBef>
              <a:spcAft>
                <a:spcPct val="0"/>
              </a:spcAft>
              <a:buClrTx/>
              <a:buFont typeface="Wingdings" panose="05000000000000000000" charset="0"/>
              <a:buChar char="§"/>
            </a:pPr>
            <a:r>
              <a:rPr lang="en-US" altLang="en-US" sz="2000">
                <a:latin typeface="Arial" panose="020B0604020202020204" pitchFamily="34" charset="0"/>
                <a:cs typeface="Arial" panose="020B0604020202020204" pitchFamily="34" charset="0"/>
              </a:rPr>
              <a:t>Added Dropout (0.1–0.3) and Batch Normalization (Momentum = 0.3) after each hidden layer.</a:t>
            </a:r>
            <a:endParaRPr lang="en-US" altLang="en-US" sz="2000">
              <a:latin typeface="Arial" panose="020B0604020202020204" pitchFamily="34" charset="0"/>
              <a:cs typeface="Arial" panose="020B0604020202020204" pitchFamily="34" charset="0"/>
            </a:endParaRPr>
          </a:p>
          <a:p>
            <a:pPr marL="342900" indent="-342900" eaLnBrk="0" fontAlgn="base" hangingPunct="0">
              <a:lnSpc>
                <a:spcPct val="130000"/>
              </a:lnSpc>
              <a:spcBef>
                <a:spcPct val="0"/>
              </a:spcBef>
              <a:spcAft>
                <a:spcPct val="0"/>
              </a:spcAft>
              <a:buClrTx/>
              <a:buFont typeface="Wingdings" panose="05000000000000000000" charset="0"/>
              <a:buChar char="§"/>
            </a:pPr>
            <a:r>
              <a:rPr lang="en-US" altLang="en-US" sz="2000" b="1">
                <a:latin typeface="Arial" panose="020B0604020202020204" pitchFamily="34" charset="0"/>
                <a:cs typeface="Arial" panose="020B0604020202020204" pitchFamily="34" charset="0"/>
              </a:rPr>
              <a:t>Output Layer:</a:t>
            </a:r>
            <a:r>
              <a:rPr lang="en-US" altLang="en-US" sz="2000">
                <a:latin typeface="Arial" panose="020B0604020202020204" pitchFamily="34" charset="0"/>
                <a:cs typeface="Arial" panose="020B0604020202020204" pitchFamily="34" charset="0"/>
              </a:rPr>
              <a:t> 3 neurons with Softmax activation to classify students into Fit, At-Risk, and Unhealthy.</a:t>
            </a:r>
            <a:endParaRPr lang="en-US" altLang="en-US" sz="2000">
              <a:latin typeface="Arial" panose="020B0604020202020204" pitchFamily="34" charset="0"/>
              <a:cs typeface="Arial" panose="020B0604020202020204" pitchFamily="34" charset="0"/>
            </a:endParaRPr>
          </a:p>
          <a:p>
            <a:pPr marL="342900" indent="-342900" eaLnBrk="0" fontAlgn="base" hangingPunct="0">
              <a:lnSpc>
                <a:spcPct val="130000"/>
              </a:lnSpc>
              <a:spcBef>
                <a:spcPct val="0"/>
              </a:spcBef>
              <a:spcAft>
                <a:spcPct val="0"/>
              </a:spcAft>
              <a:buClrTx/>
              <a:buFont typeface="Wingdings" panose="05000000000000000000" charset="0"/>
              <a:buChar char="§"/>
            </a:pPr>
            <a:r>
              <a:rPr lang="en-US" altLang="en-US" sz="2000">
                <a:latin typeface="Arial" panose="020B0604020202020204" pitchFamily="34" charset="0"/>
                <a:cs typeface="Arial" panose="020B0604020202020204" pitchFamily="34" charset="0"/>
              </a:rPr>
              <a:t>Optimized the model using Optuna Hyperparameter Tuning.</a:t>
            </a:r>
            <a:endParaRPr lang="en-US" altLang="en-US" sz="2000">
              <a:latin typeface="Arial" panose="020B0604020202020204" pitchFamily="34" charset="0"/>
              <a:cs typeface="Arial" panose="020B0604020202020204" pitchFamily="34" charset="0"/>
            </a:endParaRPr>
          </a:p>
          <a:p>
            <a:pPr marL="342900" indent="-342900" eaLnBrk="0" fontAlgn="base" hangingPunct="0">
              <a:lnSpc>
                <a:spcPct val="130000"/>
              </a:lnSpc>
              <a:spcBef>
                <a:spcPct val="0"/>
              </a:spcBef>
              <a:spcAft>
                <a:spcPct val="0"/>
              </a:spcAft>
              <a:buClrTx/>
              <a:buFont typeface="Wingdings" panose="05000000000000000000" charset="0"/>
              <a:buChar char="§"/>
            </a:pPr>
            <a:r>
              <a:rPr lang="en-US" altLang="en-US" sz="2000">
                <a:latin typeface="Arial" panose="020B0604020202020204" pitchFamily="34" charset="0"/>
                <a:cs typeface="Arial" panose="020B0604020202020204" pitchFamily="34" charset="0"/>
              </a:rPr>
              <a:t>Trained the model with Early Stopping to achieve the best validation performance.</a:t>
            </a:r>
            <a:endParaRPr lang="en-US" sz="2000">
              <a:latin typeface="Arial" panose="020B0604020202020204" pitchFamily="34" charset="0"/>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itle 5"/>
          <p:cNvSpPr>
            <a:spLocks noGrp="1"/>
          </p:cNvSpPr>
          <p:nvPr>
            <p:ph type="title"/>
          </p:nvPr>
        </p:nvSpPr>
        <p:spPr>
          <a:xfrm>
            <a:off x="609600" y="294640"/>
            <a:ext cx="10758805" cy="914400"/>
          </a:xfrm>
        </p:spPr>
        <p:txBody>
          <a:bodyPr/>
          <a:p>
            <a:r>
              <a:rPr lang="en-US" sz="4000" b="1">
                <a:solidFill>
                  <a:srgbClr val="FF0000"/>
                </a:solidFill>
              </a:rPr>
              <a:t>Model Evaluation</a:t>
            </a:r>
            <a:endParaRPr lang="en-US" sz="4000" b="1">
              <a:solidFill>
                <a:srgbClr val="FF0000"/>
              </a:solidFill>
            </a:endParaRPr>
          </a:p>
        </p:txBody>
      </p:sp>
      <p:sp>
        <p:nvSpPr>
          <p:cNvPr id="7" name="Text Placeholder 6"/>
          <p:cNvSpPr>
            <a:spLocks noGrp="1"/>
          </p:cNvSpPr>
          <p:nvPr>
            <p:ph type="body" idx="1"/>
          </p:nvPr>
        </p:nvSpPr>
        <p:spPr>
          <a:xfrm>
            <a:off x="1003935" y="1148080"/>
            <a:ext cx="9765030" cy="5068570"/>
          </a:xfrm>
        </p:spPr>
        <p:txBody>
          <a:bodyPr/>
          <a:p>
            <a:pPr>
              <a:buFont typeface="Wingdings" panose="05000000000000000000" charset="0"/>
              <a:buChar char="Ø"/>
            </a:pPr>
            <a:endParaRPr lang="en-US" sz="2000">
              <a:latin typeface="Arial" panose="020B0604020202020204" pitchFamily="34" charset="0"/>
              <a:cs typeface="Arial" panose="020B0604020202020204" pitchFamily="34" charset="0"/>
            </a:endParaRPr>
          </a:p>
          <a:p>
            <a:pPr>
              <a:buFont typeface="Wingdings" panose="05000000000000000000" charset="0"/>
              <a:buChar char="Ø"/>
            </a:pPr>
            <a:r>
              <a:rPr lang="en-US" altLang="en-US" sz="2000">
                <a:latin typeface="Arial" panose="020B0604020202020204" pitchFamily="34" charset="0"/>
                <a:cs typeface="Arial" panose="020B0604020202020204" pitchFamily="34" charset="0"/>
              </a:rPr>
              <a:t>Evaluated the ANN model using Accuracy, Precision, Recall, and F1-Score.</a:t>
            </a:r>
            <a:endParaRPr lang="en-US" altLang="en-US" sz="2000">
              <a:latin typeface="Arial" panose="020B0604020202020204" pitchFamily="34" charset="0"/>
              <a:cs typeface="Arial" panose="020B0604020202020204" pitchFamily="34" charset="0"/>
            </a:endParaRPr>
          </a:p>
          <a:p>
            <a:pPr>
              <a:buFont typeface="Wingdings" panose="05000000000000000000" charset="0"/>
              <a:buChar char="Ø"/>
            </a:pPr>
            <a:r>
              <a:rPr lang="en-US" altLang="en-US" sz="2000">
                <a:latin typeface="Arial" panose="020B0604020202020204" pitchFamily="34" charset="0"/>
                <a:cs typeface="Arial" panose="020B0604020202020204" pitchFamily="34" charset="0"/>
              </a:rPr>
              <a:t>Compared Training and Validation Accuracy/Loss to monitor model performance.</a:t>
            </a:r>
            <a:endParaRPr lang="en-US" altLang="en-US" sz="2000">
              <a:latin typeface="Arial" panose="020B0604020202020204" pitchFamily="34" charset="0"/>
              <a:cs typeface="Arial" panose="020B0604020202020204" pitchFamily="34" charset="0"/>
            </a:endParaRPr>
          </a:p>
          <a:p>
            <a:pPr>
              <a:buFont typeface="Wingdings" panose="05000000000000000000" charset="0"/>
              <a:buChar char="Ø"/>
            </a:pPr>
            <a:r>
              <a:rPr lang="en-US" altLang="en-US" sz="2000">
                <a:latin typeface="Arial" panose="020B0604020202020204" pitchFamily="34" charset="0"/>
                <a:cs typeface="Arial" panose="020B0604020202020204" pitchFamily="34" charset="0"/>
              </a:rPr>
              <a:t>Used Early Stopping to prevent overfitting and improve generalization.</a:t>
            </a:r>
            <a:endParaRPr lang="en-US" altLang="en-US" sz="2000">
              <a:latin typeface="Arial" panose="020B0604020202020204" pitchFamily="34" charset="0"/>
              <a:cs typeface="Arial" panose="020B0604020202020204" pitchFamily="34" charset="0"/>
            </a:endParaRPr>
          </a:p>
          <a:p>
            <a:pPr>
              <a:buFont typeface="Wingdings" panose="05000000000000000000" charset="0"/>
              <a:buChar char="Ø"/>
            </a:pPr>
            <a:r>
              <a:rPr lang="en-US" altLang="en-US" sz="2000">
                <a:latin typeface="Arial" panose="020B0604020202020204" pitchFamily="34" charset="0"/>
                <a:cs typeface="Arial" panose="020B0604020202020204" pitchFamily="34" charset="0"/>
              </a:rPr>
              <a:t>Evaluated the model on the test dataset to assess prediction performance</a:t>
            </a:r>
            <a:endParaRPr lang="en-US" altLang="en-US" sz="2000">
              <a:latin typeface="Arial" panose="020B0604020202020204" pitchFamily="34" charset="0"/>
              <a:cs typeface="Arial" panose="020B0604020202020204" pitchFamily="34" charset="0"/>
            </a:endParaRPr>
          </a:p>
          <a:p>
            <a:pPr marL="0" indent="0">
              <a:buFont typeface="Wingdings" panose="05000000000000000000" charset="0"/>
              <a:buNone/>
            </a:pPr>
            <a:endParaRPr lang="en-US" sz="2000">
              <a:latin typeface="Arial" panose="020B0604020202020204" pitchFamily="34" charset="0"/>
              <a:cs typeface="Arial" panose="020B0604020202020204" pitchFamily="34" charset="0"/>
            </a:endParaRPr>
          </a:p>
          <a:p>
            <a:pPr>
              <a:buFont typeface="Wingdings" panose="05000000000000000000" charset="0"/>
              <a:buChar char="Ø"/>
            </a:pPr>
            <a:endParaRPr lang="en-US" sz="2000">
              <a:latin typeface="Arial" panose="020B0604020202020204" pitchFamily="34" charset="0"/>
              <a:cs typeface="Arial" panose="020B0604020202020204" pitchFamily="34" charset="0"/>
            </a:endParaRPr>
          </a:p>
          <a:p>
            <a:pPr>
              <a:buFont typeface="Wingdings" panose="05000000000000000000" charset="0"/>
              <a:buChar char="Ø"/>
            </a:pPr>
            <a:endParaRPr lang="en-US" sz="2000">
              <a:latin typeface="Arial" panose="020B0604020202020204" pitchFamily="34" charset="0"/>
              <a:cs typeface="Arial" panose="020B0604020202020204" pitchFamily="34" charset="0"/>
            </a:endParaRPr>
          </a:p>
          <a:p>
            <a:pPr>
              <a:buFont typeface="Wingdings" panose="05000000000000000000" charset="0"/>
              <a:buChar char="Ø"/>
            </a:pPr>
            <a:endParaRPr lang="en-US" sz="2000">
              <a:latin typeface="Arial" panose="020B0604020202020204" pitchFamily="34" charset="0"/>
              <a:cs typeface="Arial" panose="020B0604020202020204" pitchFamily="34" charset="0"/>
            </a:endParaRPr>
          </a:p>
          <a:p>
            <a:pPr marL="0" indent="0">
              <a:buFont typeface="Wingdings" panose="05000000000000000000" charset="0"/>
              <a:buNone/>
            </a:pPr>
            <a:endParaRPr lang="en-US" sz="2000">
              <a:latin typeface="Arial" panose="020B0604020202020204" pitchFamily="34" charset="0"/>
              <a:cs typeface="Arial" panose="020B0604020202020204" pitchFamily="34" charset="0"/>
            </a:endParaRPr>
          </a:p>
          <a:p>
            <a:pPr>
              <a:lnSpc>
                <a:spcPct val="70000"/>
              </a:lnSpc>
              <a:buFont typeface="Wingdings" panose="05000000000000000000" charset="0"/>
              <a:buChar char="Ø"/>
            </a:pPr>
            <a:endParaRPr lang="en-US" sz="2000">
              <a:latin typeface="Arial" panose="020B0604020202020204" pitchFamily="34" charset="0"/>
              <a:cs typeface="Arial" panose="020B0604020202020204" pitchFamily="34" charset="0"/>
            </a:endParaRPr>
          </a:p>
        </p:txBody>
      </p:sp>
      <p:sp>
        <p:nvSpPr>
          <p:cNvPr id="4" name="Footer Placeholder 3"/>
          <p:cNvSpPr>
            <a:spLocks noGrp="1"/>
          </p:cNvSpPr>
          <p:nvPr>
            <p:ph type="ftr" sz="quarter" idx="11"/>
          </p:nvPr>
        </p:nvSpPr>
        <p:spPr/>
        <p:txBody>
          <a:bodyPr/>
          <a:p/>
        </p:txBody>
      </p:sp>
      <p:sp>
        <p:nvSpPr>
          <p:cNvPr id="5" name="Slide Number Placeholder 4"/>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pic>
        <p:nvPicPr>
          <p:cNvPr id="3" name="Picture 2" descr="Screenshot 2026-07-30 005937"/>
          <p:cNvPicPr>
            <a:picLocks noChangeAspect="1"/>
          </p:cNvPicPr>
          <p:nvPr/>
        </p:nvPicPr>
        <p:blipFill>
          <a:blip r:embed="rId1"/>
          <a:srcRect t="26712" r="22065" b="5982"/>
          <a:stretch>
            <a:fillRect/>
          </a:stretch>
        </p:blipFill>
        <p:spPr>
          <a:xfrm>
            <a:off x="2898140" y="3343275"/>
            <a:ext cx="5735320" cy="21539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Placeholder 2"/>
          <p:cNvSpPr>
            <a:spLocks noGrp="1"/>
          </p:cNvSpPr>
          <p:nvPr>
            <p:ph type="body" idx="1"/>
          </p:nvPr>
        </p:nvSpPr>
        <p:spPr>
          <a:xfrm>
            <a:off x="964565" y="838835"/>
            <a:ext cx="10158730" cy="5212715"/>
          </a:xfrm>
        </p:spPr>
        <p:txBody>
          <a:bodyPr/>
          <a:p>
            <a:pPr algn="just">
              <a:lnSpc>
                <a:spcPct val="130000"/>
              </a:lnSpc>
              <a:buNone/>
            </a:pPr>
            <a:r>
              <a:rPr lang="en-US" altLang="en-US" sz="2400" b="1">
                <a:solidFill>
                  <a:srgbClr val="FF0000"/>
                </a:solidFill>
                <a:latin typeface="Arial" panose="020B0604020202020204" pitchFamily="34" charset="0"/>
                <a:cs typeface="Arial" panose="020B0604020202020204" pitchFamily="34" charset="0"/>
              </a:rPr>
              <a:t>Hyperparameter Tuning </a:t>
            </a:r>
            <a:endParaRPr lang="en-US" altLang="en-US" sz="2400" b="1">
              <a:solidFill>
                <a:srgbClr val="FF0000"/>
              </a:solidFill>
              <a:latin typeface="Arial" panose="020B0604020202020204" pitchFamily="34" charset="0"/>
              <a:cs typeface="Arial" panose="020B0604020202020204" pitchFamily="34" charset="0"/>
            </a:endParaRPr>
          </a:p>
          <a:p>
            <a:pPr algn="just">
              <a:lnSpc>
                <a:spcPct val="130000"/>
              </a:lnSpc>
              <a:buFont typeface="Arial" panose="020B0604020202020204" pitchFamily="34" charset="0"/>
              <a:buChar char="•"/>
            </a:pPr>
            <a:r>
              <a:rPr lang="en-US" altLang="en-US" sz="2000" b="1">
                <a:latin typeface="Arial" panose="020B0604020202020204" pitchFamily="34" charset="0"/>
                <a:cs typeface="Arial" panose="020B0604020202020204" pitchFamily="34" charset="0"/>
              </a:rPr>
              <a:t>Method:</a:t>
            </a:r>
            <a:r>
              <a:rPr lang="en-US" altLang="en-US" sz="2000">
                <a:latin typeface="Arial" panose="020B0604020202020204" pitchFamily="34" charset="0"/>
                <a:cs typeface="Arial" panose="020B0604020202020204" pitchFamily="34" charset="0"/>
              </a:rPr>
              <a:t> Optuna</a:t>
            </a:r>
            <a:endParaRPr lang="en-US" altLang="en-US" sz="2000">
              <a:latin typeface="Arial" panose="020B0604020202020204" pitchFamily="34" charset="0"/>
              <a:cs typeface="Arial" panose="020B0604020202020204" pitchFamily="34" charset="0"/>
            </a:endParaRPr>
          </a:p>
          <a:p>
            <a:pPr algn="just">
              <a:lnSpc>
                <a:spcPct val="130000"/>
              </a:lnSpc>
              <a:buFont typeface="Arial" panose="020B0604020202020204" pitchFamily="34" charset="0"/>
              <a:buChar char="•"/>
            </a:pPr>
            <a:r>
              <a:rPr lang="en-US" altLang="en-US" sz="2000" b="1">
                <a:latin typeface="Arial" panose="020B0604020202020204" pitchFamily="34" charset="0"/>
                <a:cs typeface="Arial" panose="020B0604020202020204" pitchFamily="34" charset="0"/>
              </a:rPr>
              <a:t>Optimized Parameters:</a:t>
            </a:r>
            <a:r>
              <a:rPr lang="en-US" altLang="en-US" sz="2000">
                <a:latin typeface="Arial" panose="020B0604020202020204" pitchFamily="34" charset="0"/>
                <a:cs typeface="Arial" panose="020B0604020202020204" pitchFamily="34" charset="0"/>
              </a:rPr>
              <a:t> Hidden layers, neurons, learning rate, optimizer, batch size, epochs, dropout rate, and batch normalization momentum.</a:t>
            </a:r>
            <a:endParaRPr lang="en-US" altLang="en-US" sz="2000">
              <a:latin typeface="Arial" panose="020B0604020202020204" pitchFamily="34" charset="0"/>
              <a:cs typeface="Arial" panose="020B0604020202020204" pitchFamily="34" charset="0"/>
            </a:endParaRPr>
          </a:p>
          <a:p>
            <a:pPr algn="just">
              <a:lnSpc>
                <a:spcPct val="130000"/>
              </a:lnSpc>
              <a:buFont typeface="Arial" panose="020B0604020202020204" pitchFamily="34" charset="0"/>
              <a:buChar char="•"/>
            </a:pPr>
            <a:r>
              <a:rPr lang="en-US" altLang="en-US" sz="2000" b="1">
                <a:latin typeface="Arial" panose="020B0604020202020204" pitchFamily="34" charset="0"/>
                <a:cs typeface="Arial" panose="020B0604020202020204" pitchFamily="34" charset="0"/>
              </a:rPr>
              <a:t>Regularization Techniques:</a:t>
            </a:r>
            <a:r>
              <a:rPr lang="en-US" altLang="en-US" sz="2000">
                <a:latin typeface="Arial" panose="020B0604020202020204" pitchFamily="34" charset="0"/>
                <a:cs typeface="Arial" panose="020B0604020202020204" pitchFamily="34" charset="0"/>
              </a:rPr>
              <a:t> Early Stopping, Dropout, L1-L2 Regularization, and Batch Normalization.</a:t>
            </a:r>
            <a:endParaRPr lang="en-US" altLang="en-US" sz="2000">
              <a:latin typeface="Arial" panose="020B0604020202020204" pitchFamily="34" charset="0"/>
              <a:cs typeface="Arial" panose="020B0604020202020204" pitchFamily="34" charset="0"/>
            </a:endParaRPr>
          </a:p>
          <a:p>
            <a:pPr algn="just">
              <a:lnSpc>
                <a:spcPct val="130000"/>
              </a:lnSpc>
              <a:buFont typeface="Arial" panose="020B0604020202020204" pitchFamily="34" charset="0"/>
              <a:buChar char="•"/>
            </a:pPr>
            <a:r>
              <a:rPr lang="en-US" altLang="en-US" sz="2000" b="1">
                <a:latin typeface="Arial" panose="020B0604020202020204" pitchFamily="34" charset="0"/>
                <a:cs typeface="Arial" panose="020B0604020202020204" pitchFamily="34" charset="0"/>
              </a:rPr>
              <a:t>Evaluation Metrics: </a:t>
            </a:r>
            <a:r>
              <a:rPr lang="en-US" altLang="en-US" sz="2000">
                <a:latin typeface="Arial" panose="020B0604020202020204" pitchFamily="34" charset="0"/>
                <a:cs typeface="Arial" panose="020B0604020202020204" pitchFamily="34" charset="0"/>
              </a:rPr>
              <a:t>Accuracy, Precision, Recall, F1-Score.</a:t>
            </a:r>
            <a:endParaRPr lang="en-US" altLang="en-US" sz="2000">
              <a:latin typeface="Arial" panose="020B0604020202020204" pitchFamily="34" charset="0"/>
              <a:cs typeface="Arial" panose="020B0604020202020204" pitchFamily="34" charset="0"/>
            </a:endParaRPr>
          </a:p>
          <a:p>
            <a:pPr algn="just">
              <a:lnSpc>
                <a:spcPct val="130000"/>
              </a:lnSpc>
              <a:buFont typeface="Arial" panose="020B0604020202020204" pitchFamily="34" charset="0"/>
              <a:buChar char="•"/>
            </a:pPr>
            <a:r>
              <a:rPr lang="en-US" altLang="en-US" sz="2000" b="1">
                <a:latin typeface="Arial" panose="020B0604020202020204" pitchFamily="34" charset="0"/>
                <a:cs typeface="Arial" panose="020B0604020202020204" pitchFamily="34" charset="0"/>
              </a:rPr>
              <a:t>Final Model Performance:</a:t>
            </a:r>
            <a:r>
              <a:rPr lang="en-US" altLang="en-US" sz="2000">
                <a:latin typeface="Arial" panose="020B0604020202020204" pitchFamily="34" charset="0"/>
                <a:cs typeface="Arial" panose="020B0604020202020204" pitchFamily="34" charset="0"/>
              </a:rPr>
              <a:t> 96% Test Accuracy with improved generalization.</a:t>
            </a:r>
            <a:endParaRPr lang="en-US" altLang="en-US" sz="2000">
              <a:latin typeface="Arial" panose="020B0604020202020204" pitchFamily="34" charset="0"/>
              <a:cs typeface="Arial" panose="020B0604020202020204" pitchFamily="34" charset="0"/>
            </a:endParaRPr>
          </a:p>
        </p:txBody>
      </p:sp>
      <p:sp>
        <p:nvSpPr>
          <p:cNvPr id="4" name="Footer Placeholder 3"/>
          <p:cNvSpPr>
            <a:spLocks noGrp="1"/>
          </p:cNvSpPr>
          <p:nvPr>
            <p:ph type="ftr" sz="quarter" idx="11"/>
          </p:nvPr>
        </p:nvSpPr>
        <p:spPr/>
        <p:txBody>
          <a:bodyPr/>
          <a:p/>
        </p:txBody>
      </p:sp>
      <p:sp>
        <p:nvSpPr>
          <p:cNvPr id="5" name="Slide Number Placeholder 4"/>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ooter Placeholder 3"/>
          <p:cNvSpPr>
            <a:spLocks noGrp="1"/>
          </p:cNvSpPr>
          <p:nvPr>
            <p:ph type="ftr" sz="quarter" idx="11"/>
          </p:nvPr>
        </p:nvSpPr>
        <p:spPr/>
        <p:txBody>
          <a:bodyPr/>
          <a:p/>
        </p:txBody>
      </p:sp>
      <p:sp>
        <p:nvSpPr>
          <p:cNvPr id="5" name="Slide Number Placeholder 4"/>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
        <p:nvSpPr>
          <p:cNvPr id="2" name="Content Placeholder 1"/>
          <p:cNvSpPr/>
          <p:nvPr>
            <p:ph idx="1"/>
          </p:nvPr>
        </p:nvSpPr>
        <p:spPr>
          <a:xfrm>
            <a:off x="891540" y="1295400"/>
            <a:ext cx="10260965" cy="4867275"/>
          </a:xfrm>
        </p:spPr>
        <p:txBody>
          <a:bodyPr/>
          <a:p>
            <a:pPr marL="0" indent="0">
              <a:lnSpc>
                <a:spcPct val="110000"/>
              </a:lnSpc>
              <a:buNone/>
            </a:pPr>
            <a:r>
              <a:rPr lang="en-US" altLang="en-US" sz="1600" b="1">
                <a:solidFill>
                  <a:schemeClr val="tx1"/>
                </a:solidFill>
                <a:latin typeface="Arial" panose="020B0604020202020204" pitchFamily="34" charset="0"/>
                <a:cs typeface="Arial" panose="020B0604020202020204" pitchFamily="34" charset="0"/>
              </a:rPr>
              <a:t>Developed a Streamlit web application for real-time Student Health Risk Prediction using the trained ANN model.</a:t>
            </a:r>
            <a:endParaRPr lang="en-US" altLang="en-US" sz="1600" b="1">
              <a:solidFill>
                <a:schemeClr val="tx1"/>
              </a:solidFill>
              <a:latin typeface="Arial" panose="020B0604020202020204" pitchFamily="34" charset="0"/>
              <a:cs typeface="Arial" panose="020B0604020202020204" pitchFamily="34" charset="0"/>
            </a:endParaRPr>
          </a:p>
          <a:p>
            <a:pPr marL="0" indent="0">
              <a:lnSpc>
                <a:spcPct val="110000"/>
              </a:lnSpc>
              <a:buNone/>
            </a:pPr>
            <a:r>
              <a:rPr lang="en-US" altLang="en-US" sz="1600">
                <a:solidFill>
                  <a:schemeClr val="tx1"/>
                </a:solidFill>
                <a:latin typeface="Arial" panose="020B0604020202020204" pitchFamily="34" charset="0"/>
                <a:cs typeface="Arial" panose="020B0604020202020204" pitchFamily="34" charset="0"/>
              </a:rPr>
              <a:t>Provides an easy-to-use interface for entering student details and instantly predicting the health risk category (Fit, At-Risk, or Unhealthy).</a:t>
            </a:r>
            <a:endParaRPr lang="en-US" altLang="en-US" sz="1600">
              <a:solidFill>
                <a:schemeClr val="tx1"/>
              </a:solidFill>
              <a:latin typeface="Arial" panose="020B0604020202020204" pitchFamily="34" charset="0"/>
              <a:cs typeface="Arial" panose="020B0604020202020204" pitchFamily="34" charset="0"/>
            </a:endParaRPr>
          </a:p>
          <a:p>
            <a:pPr marL="0" indent="0">
              <a:lnSpc>
                <a:spcPct val="110000"/>
              </a:lnSpc>
              <a:buNone/>
            </a:pPr>
            <a:endParaRPr lang="en-US" altLang="en-US" sz="1600">
              <a:solidFill>
                <a:schemeClr val="tx1"/>
              </a:solidFill>
              <a:latin typeface="Arial" panose="020B0604020202020204" pitchFamily="34" charset="0"/>
              <a:cs typeface="Arial" panose="020B0604020202020204" pitchFamily="34" charset="0"/>
            </a:endParaRPr>
          </a:p>
        </p:txBody>
      </p:sp>
      <p:sp>
        <p:nvSpPr>
          <p:cNvPr id="3" name="Text Box 2"/>
          <p:cNvSpPr txBox="1"/>
          <p:nvPr/>
        </p:nvSpPr>
        <p:spPr>
          <a:xfrm>
            <a:off x="996315" y="332740"/>
            <a:ext cx="10156825" cy="715010"/>
          </a:xfrm>
          <a:prstGeom prst="rect">
            <a:avLst/>
          </a:prstGeom>
        </p:spPr>
        <p:txBody>
          <a:bodyPr>
            <a:noAutofit/>
            <a:extLst>
              <a:ext uri="{4A0BC546-FE56-4ADE-93B0-CB8AF2F6F144}">
                <wpsdc:textFrameExt xmlns:wpsdc="http://www.wps.cn/officeDocument/2022/drawingmlCustomData" type="text"/>
              </a:ext>
            </a:extLst>
          </a:bodyPr>
          <a:p>
            <a:pPr algn="ctr"/>
            <a:r>
              <a:rPr lang="en-US" sz="4400" b="1">
                <a:solidFill>
                  <a:srgbClr val="FF0000"/>
                </a:solidFill>
                <a:latin typeface="Arial" panose="020B0604020202020204" pitchFamily="34" charset="0"/>
                <a:ea typeface="Microsoft YaHei" panose="020B0503020204020204" charset="-122"/>
              </a:rPr>
              <a:t>Model Deployment</a:t>
            </a:r>
            <a:endParaRPr lang="en-US" sz="4400" b="1">
              <a:solidFill>
                <a:srgbClr val="FF0000"/>
              </a:solidFill>
              <a:latin typeface="Arial" panose="020B0604020202020204" pitchFamily="34" charset="0"/>
              <a:ea typeface="Microsoft YaHei" panose="020B0503020204020204" charset="-122"/>
            </a:endParaRPr>
          </a:p>
        </p:txBody>
      </p:sp>
      <p:pic>
        <p:nvPicPr>
          <p:cNvPr id="6" name="Picture 5"/>
          <p:cNvPicPr>
            <a:picLocks noChangeAspect="1"/>
          </p:cNvPicPr>
          <p:nvPr/>
        </p:nvPicPr>
        <p:blipFill>
          <a:blip r:embed="rId1"/>
          <a:stretch>
            <a:fillRect/>
          </a:stretch>
        </p:blipFill>
        <p:spPr>
          <a:xfrm>
            <a:off x="2836545" y="2476500"/>
            <a:ext cx="6513195" cy="381381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274955"/>
            <a:ext cx="10972800" cy="969010"/>
          </a:xfrm>
        </p:spPr>
        <p:txBody>
          <a:bodyPr/>
          <a:p>
            <a:r>
              <a:rPr lang="en-US" b="1">
                <a:solidFill>
                  <a:srgbClr val="FF0000"/>
                </a:solidFill>
              </a:rPr>
              <a:t>Challenges</a:t>
            </a:r>
            <a:endParaRPr lang="en-US" b="1">
              <a:solidFill>
                <a:srgbClr val="FF0000"/>
              </a:solidFill>
            </a:endParaRPr>
          </a:p>
        </p:txBody>
      </p:sp>
      <p:sp>
        <p:nvSpPr>
          <p:cNvPr id="3" name="Content Placeholder 2"/>
          <p:cNvSpPr>
            <a:spLocks noGrp="1"/>
          </p:cNvSpPr>
          <p:nvPr>
            <p:ph idx="1"/>
          </p:nvPr>
        </p:nvSpPr>
        <p:spPr>
          <a:xfrm>
            <a:off x="986155" y="1383665"/>
            <a:ext cx="10115550" cy="4550410"/>
          </a:xfrm>
        </p:spPr>
        <p:txBody>
          <a:bodyPr/>
          <a:p>
            <a:pPr marL="0" indent="0" algn="just">
              <a:lnSpc>
                <a:spcPct val="120000"/>
              </a:lnSpc>
              <a:buNone/>
            </a:pPr>
            <a:r>
              <a:rPr lang="en-US" altLang="en-US" sz="2000" b="1">
                <a:latin typeface="Arial" panose="020B0604020202020204" pitchFamily="34" charset="0"/>
                <a:cs typeface="Arial" panose="020B0604020202020204" pitchFamily="34" charset="0"/>
              </a:rPr>
              <a:t>1. Challenge:</a:t>
            </a:r>
            <a:r>
              <a:rPr lang="en-US" altLang="en-US" sz="2000">
                <a:latin typeface="Arial" panose="020B0604020202020204" pitchFamily="34" charset="0"/>
                <a:cs typeface="Arial" panose="020B0604020202020204" pitchFamily="34" charset="0"/>
              </a:rPr>
              <a:t> The dataset was highly imbalanced, leading to biased predictions toward the majority class.</a:t>
            </a:r>
            <a:endParaRPr lang="en-US" altLang="en-US" sz="2000">
              <a:latin typeface="Arial" panose="020B0604020202020204" pitchFamily="34" charset="0"/>
              <a:cs typeface="Arial" panose="020B0604020202020204" pitchFamily="34" charset="0"/>
            </a:endParaRPr>
          </a:p>
          <a:p>
            <a:pPr marL="0" indent="0" algn="just">
              <a:lnSpc>
                <a:spcPct val="120000"/>
              </a:lnSpc>
              <a:buNone/>
            </a:pPr>
            <a:r>
              <a:rPr lang="en-US" altLang="en-US" sz="2000" b="1">
                <a:latin typeface="Arial" panose="020B0604020202020204" pitchFamily="34" charset="0"/>
                <a:cs typeface="Arial" panose="020B0604020202020204" pitchFamily="34" charset="0"/>
              </a:rPr>
              <a:t>Solution:</a:t>
            </a:r>
            <a:r>
              <a:rPr lang="en-US" altLang="en-US" sz="2000">
                <a:latin typeface="Arial" panose="020B0604020202020204" pitchFamily="34" charset="0"/>
                <a:cs typeface="Arial" panose="020B0604020202020204" pitchFamily="34" charset="0"/>
              </a:rPr>
              <a:t> Applied Class Weights during ANN training to improve minority class prediction.</a:t>
            </a:r>
            <a:endParaRPr lang="en-US" altLang="en-US" sz="2000">
              <a:latin typeface="Arial" panose="020B0604020202020204" pitchFamily="34" charset="0"/>
              <a:cs typeface="Arial" panose="020B0604020202020204" pitchFamily="34" charset="0"/>
            </a:endParaRPr>
          </a:p>
          <a:p>
            <a:pPr marL="0" indent="0" algn="just">
              <a:lnSpc>
                <a:spcPct val="120000"/>
              </a:lnSpc>
              <a:buNone/>
            </a:pPr>
            <a:endParaRPr lang="en-US" altLang="en-US" sz="2000">
              <a:latin typeface="Arial" panose="020B0604020202020204" pitchFamily="34" charset="0"/>
              <a:cs typeface="Arial" panose="020B0604020202020204" pitchFamily="34" charset="0"/>
            </a:endParaRPr>
          </a:p>
          <a:p>
            <a:pPr marL="0" indent="0" algn="just">
              <a:lnSpc>
                <a:spcPct val="120000"/>
              </a:lnSpc>
              <a:buNone/>
            </a:pPr>
            <a:r>
              <a:rPr lang="en-US" altLang="en-US" sz="2000" b="1">
                <a:latin typeface="Arial" panose="020B0604020202020204" pitchFamily="34" charset="0"/>
                <a:cs typeface="Arial" panose="020B0604020202020204" pitchFamily="34" charset="0"/>
              </a:rPr>
              <a:t>2. Challenge</a:t>
            </a:r>
            <a:r>
              <a:rPr lang="en-US" altLang="en-US" sz="2000">
                <a:latin typeface="Arial" panose="020B0604020202020204" pitchFamily="34" charset="0"/>
                <a:cs typeface="Arial" panose="020B0604020202020204" pitchFamily="34" charset="0"/>
              </a:rPr>
              <a:t>: Selecting the optimal ANN architecture (hidden layers, neurons, dropout, etc.) was difficult.</a:t>
            </a:r>
            <a:endParaRPr lang="en-US" altLang="en-US" sz="2000">
              <a:latin typeface="Arial" panose="020B0604020202020204" pitchFamily="34" charset="0"/>
              <a:cs typeface="Arial" panose="020B0604020202020204" pitchFamily="34" charset="0"/>
            </a:endParaRPr>
          </a:p>
          <a:p>
            <a:pPr marL="0" indent="0" algn="just">
              <a:lnSpc>
                <a:spcPct val="120000"/>
              </a:lnSpc>
              <a:buNone/>
            </a:pPr>
            <a:r>
              <a:rPr lang="en-US" altLang="en-US" sz="2000" b="1">
                <a:latin typeface="Arial" panose="020B0604020202020204" pitchFamily="34" charset="0"/>
                <a:cs typeface="Arial" panose="020B0604020202020204" pitchFamily="34" charset="0"/>
              </a:rPr>
              <a:t>Solution:</a:t>
            </a:r>
            <a:r>
              <a:rPr lang="en-US" altLang="en-US" sz="2000">
                <a:latin typeface="Arial" panose="020B0604020202020204" pitchFamily="34" charset="0"/>
                <a:cs typeface="Arial" panose="020B0604020202020204" pitchFamily="34" charset="0"/>
              </a:rPr>
              <a:t> Used Optuna Hyperparameter Tuning to identify the best model configuration.</a:t>
            </a:r>
            <a:endParaRPr lang="en-US" altLang="en-US" sz="2000">
              <a:latin typeface="Arial" panose="020B0604020202020204" pitchFamily="34" charset="0"/>
              <a:cs typeface="Arial" panose="020B0604020202020204" pitchFamily="34" charset="0"/>
            </a:endParaRPr>
          </a:p>
        </p:txBody>
      </p:sp>
      <p:sp>
        <p:nvSpPr>
          <p:cNvPr id="4" name="Footer Placeholder 3"/>
          <p:cNvSpPr>
            <a:spLocks noGrp="1"/>
          </p:cNvSpPr>
          <p:nvPr>
            <p:ph type="ftr" sz="quarter" idx="11"/>
          </p:nvPr>
        </p:nvSpPr>
        <p:spPr/>
        <p:txBody>
          <a:bodyPr/>
          <a:p/>
        </p:txBody>
      </p:sp>
      <p:sp>
        <p:nvSpPr>
          <p:cNvPr id="5" name="Slide Number Placeholder 4"/>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274955"/>
            <a:ext cx="10972800" cy="1030605"/>
          </a:xfrm>
        </p:spPr>
        <p:txBody>
          <a:bodyPr/>
          <a:p>
            <a:r>
              <a:rPr lang="en-US" altLang="en-US" b="1">
                <a:solidFill>
                  <a:srgbClr val="FF0000"/>
                </a:solidFill>
                <a:sym typeface="+mn-ea"/>
              </a:rPr>
              <a:t>Key Insights</a:t>
            </a:r>
            <a:endParaRPr lang="en-US" altLang="en-US" b="1">
              <a:solidFill>
                <a:srgbClr val="FF0000"/>
              </a:solidFill>
              <a:sym typeface="+mn-ea"/>
            </a:endParaRPr>
          </a:p>
        </p:txBody>
      </p:sp>
      <p:sp>
        <p:nvSpPr>
          <p:cNvPr id="3" name="Content Placeholder 2"/>
          <p:cNvSpPr>
            <a:spLocks noGrp="1"/>
          </p:cNvSpPr>
          <p:nvPr>
            <p:ph idx="1"/>
          </p:nvPr>
        </p:nvSpPr>
        <p:spPr>
          <a:xfrm>
            <a:off x="903605" y="1532890"/>
            <a:ext cx="10077450" cy="4593590"/>
          </a:xfrm>
        </p:spPr>
        <p:txBody>
          <a:bodyPr/>
          <a:p>
            <a:pPr algn="just">
              <a:lnSpc>
                <a:spcPct val="100000"/>
              </a:lnSpc>
            </a:pPr>
            <a:r>
              <a:rPr lang="en-US" altLang="en-US" sz="2000">
                <a:latin typeface="Arial" panose="020B0604020202020204" pitchFamily="34" charset="0"/>
                <a:cs typeface="Arial" panose="020B0604020202020204" pitchFamily="34" charset="0"/>
              </a:rPr>
              <a:t>Early prediction of student health risk enables timely intervention and better well-being.</a:t>
            </a:r>
            <a:endParaRPr lang="en-US" altLang="en-US" sz="2000">
              <a:latin typeface="Arial" panose="020B0604020202020204" pitchFamily="34" charset="0"/>
              <a:cs typeface="Arial" panose="020B0604020202020204" pitchFamily="34" charset="0"/>
            </a:endParaRPr>
          </a:p>
          <a:p>
            <a:pPr algn="just">
              <a:lnSpc>
                <a:spcPct val="100000"/>
              </a:lnSpc>
            </a:pPr>
            <a:r>
              <a:rPr lang="en-US" altLang="en-US" sz="2000">
                <a:latin typeface="Arial" panose="020B0604020202020204" pitchFamily="34" charset="0"/>
                <a:cs typeface="Arial" panose="020B0604020202020204" pitchFamily="34" charset="0"/>
              </a:rPr>
              <a:t>Sleep quality, stress level, BMI, and physical activity are key factors influencing health risk.</a:t>
            </a:r>
            <a:endParaRPr lang="en-US" altLang="en-US" sz="2000">
              <a:latin typeface="Arial" panose="020B0604020202020204" pitchFamily="34" charset="0"/>
              <a:cs typeface="Arial" panose="020B0604020202020204" pitchFamily="34" charset="0"/>
            </a:endParaRPr>
          </a:p>
          <a:p>
            <a:pPr algn="just">
              <a:lnSpc>
                <a:spcPct val="100000"/>
              </a:lnSpc>
            </a:pPr>
            <a:r>
              <a:rPr lang="en-US" altLang="en-US" sz="2000">
                <a:latin typeface="Arial" panose="020B0604020202020204" pitchFamily="34" charset="0"/>
                <a:cs typeface="Arial" panose="020B0604020202020204" pitchFamily="34" charset="0"/>
              </a:rPr>
              <a:t>Data preprocessing and feature engineering significantly improved prediction performance.</a:t>
            </a:r>
            <a:endParaRPr lang="en-US" altLang="en-US" sz="2000">
              <a:latin typeface="Arial" panose="020B0604020202020204" pitchFamily="34" charset="0"/>
              <a:cs typeface="Arial" panose="020B0604020202020204" pitchFamily="34" charset="0"/>
            </a:endParaRPr>
          </a:p>
          <a:p>
            <a:pPr algn="just">
              <a:lnSpc>
                <a:spcPct val="100000"/>
              </a:lnSpc>
            </a:pPr>
            <a:r>
              <a:rPr lang="en-US" altLang="en-US" sz="2000">
                <a:latin typeface="Arial" panose="020B0604020202020204" pitchFamily="34" charset="0"/>
                <a:cs typeface="Arial" panose="020B0604020202020204" pitchFamily="34" charset="0"/>
              </a:rPr>
              <a:t>Class weights effectively addressed the imbalanced dataset problem.</a:t>
            </a:r>
            <a:endParaRPr lang="en-US" altLang="en-US" sz="2000">
              <a:latin typeface="Arial" panose="020B0604020202020204" pitchFamily="34" charset="0"/>
              <a:cs typeface="Arial" panose="020B0604020202020204" pitchFamily="34" charset="0"/>
            </a:endParaRPr>
          </a:p>
          <a:p>
            <a:pPr algn="just">
              <a:lnSpc>
                <a:spcPct val="100000"/>
              </a:lnSpc>
            </a:pPr>
            <a:r>
              <a:rPr lang="en-US" altLang="en-US" sz="2000">
                <a:latin typeface="Arial" panose="020B0604020202020204" pitchFamily="34" charset="0"/>
                <a:cs typeface="Arial" panose="020B0604020202020204" pitchFamily="34" charset="0"/>
              </a:rPr>
              <a:t>Optuna hyperparameter tuning optimized the ANN architecture and improved model accuracy.</a:t>
            </a:r>
            <a:endParaRPr lang="en-US" altLang="en-US" sz="2000">
              <a:latin typeface="Arial" panose="020B0604020202020204" pitchFamily="34" charset="0"/>
              <a:cs typeface="Arial" panose="020B0604020202020204" pitchFamily="34" charset="0"/>
            </a:endParaRPr>
          </a:p>
          <a:p>
            <a:pPr algn="just">
              <a:lnSpc>
                <a:spcPct val="100000"/>
              </a:lnSpc>
            </a:pPr>
            <a:r>
              <a:rPr lang="en-US" altLang="en-US" sz="2000">
                <a:latin typeface="Arial" panose="020B0604020202020204" pitchFamily="34" charset="0"/>
                <a:cs typeface="Arial" panose="020B0604020202020204" pitchFamily="34" charset="0"/>
              </a:rPr>
              <a:t>The Streamlit application provides fast, user-friendly, and real-time health risk assessment.</a:t>
            </a:r>
            <a:endParaRPr lang="en-US" altLang="en-US" sz="2000">
              <a:latin typeface="Arial" panose="020B0604020202020204" pitchFamily="34" charset="0"/>
              <a:cs typeface="Arial" panose="020B0604020202020204" pitchFamily="34" charset="0"/>
            </a:endParaRPr>
          </a:p>
        </p:txBody>
      </p:sp>
      <p:sp>
        <p:nvSpPr>
          <p:cNvPr id="4" name="Footer Placeholder 3"/>
          <p:cNvSpPr>
            <a:spLocks noGrp="1"/>
          </p:cNvSpPr>
          <p:nvPr>
            <p:ph type="ftr" sz="quarter" idx="11"/>
          </p:nvPr>
        </p:nvSpPr>
        <p:spPr/>
        <p:txBody>
          <a:bodyPr/>
          <a:p/>
        </p:txBody>
      </p:sp>
      <p:sp>
        <p:nvSpPr>
          <p:cNvPr id="5" name="Slide Number Placeholder 4"/>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274955"/>
            <a:ext cx="10972800" cy="1092200"/>
          </a:xfrm>
        </p:spPr>
        <p:txBody>
          <a:bodyPr/>
          <a:p>
            <a:r>
              <a:rPr lang="en-US" altLang="en-US" b="1">
                <a:solidFill>
                  <a:srgbClr val="FF0000"/>
                </a:solidFill>
                <a:sym typeface="+mn-ea"/>
              </a:rPr>
              <a:t>Recommendations</a:t>
            </a:r>
            <a:endParaRPr lang="en-US" altLang="en-US" b="1">
              <a:solidFill>
                <a:srgbClr val="FF0000"/>
              </a:solidFill>
              <a:sym typeface="+mn-ea"/>
            </a:endParaRPr>
          </a:p>
        </p:txBody>
      </p:sp>
      <p:sp>
        <p:nvSpPr>
          <p:cNvPr id="3" name="Content Placeholder 2"/>
          <p:cNvSpPr>
            <a:spLocks noGrp="1"/>
          </p:cNvSpPr>
          <p:nvPr>
            <p:ph idx="1"/>
          </p:nvPr>
        </p:nvSpPr>
        <p:spPr>
          <a:xfrm>
            <a:off x="985520" y="1370965"/>
            <a:ext cx="10384155" cy="4755515"/>
          </a:xfrm>
        </p:spPr>
        <p:txBody>
          <a:bodyPr/>
          <a:p>
            <a:pPr>
              <a:lnSpc>
                <a:spcPct val="130000"/>
              </a:lnSpc>
            </a:pPr>
            <a:r>
              <a:rPr lang="en-US" altLang="en-US" sz="2000">
                <a:latin typeface="Arial" panose="020B0604020202020204" pitchFamily="34" charset="0"/>
                <a:cs typeface="Arial" panose="020B0604020202020204" pitchFamily="34" charset="0"/>
              </a:rPr>
              <a:t>Encourage students to maintain a balanced diet, regular exercise, and adequate sleep.</a:t>
            </a:r>
            <a:endParaRPr lang="en-US" altLang="en-US" sz="2000">
              <a:latin typeface="Arial" panose="020B0604020202020204" pitchFamily="34" charset="0"/>
              <a:cs typeface="Arial" panose="020B0604020202020204" pitchFamily="34" charset="0"/>
            </a:endParaRPr>
          </a:p>
          <a:p>
            <a:pPr>
              <a:lnSpc>
                <a:spcPct val="130000"/>
              </a:lnSpc>
            </a:pPr>
            <a:r>
              <a:rPr lang="en-US" altLang="en-US" sz="2000">
                <a:latin typeface="Arial" panose="020B0604020202020204" pitchFamily="34" charset="0"/>
                <a:cs typeface="Arial" panose="020B0604020202020204" pitchFamily="34" charset="0"/>
              </a:rPr>
              <a:t>Conduct regular health screenings to identify at-risk students early.</a:t>
            </a:r>
            <a:endParaRPr lang="en-US" altLang="en-US" sz="2000">
              <a:latin typeface="Arial" panose="020B0604020202020204" pitchFamily="34" charset="0"/>
              <a:cs typeface="Arial" panose="020B0604020202020204" pitchFamily="34" charset="0"/>
            </a:endParaRPr>
          </a:p>
          <a:p>
            <a:pPr>
              <a:lnSpc>
                <a:spcPct val="130000"/>
              </a:lnSpc>
            </a:pPr>
            <a:r>
              <a:rPr lang="en-US" altLang="en-US" sz="2000">
                <a:latin typeface="Arial" panose="020B0604020202020204" pitchFamily="34" charset="0"/>
                <a:cs typeface="Arial" panose="020B0604020202020204" pitchFamily="34" charset="0"/>
              </a:rPr>
              <a:t>Promote stress management and mental health awareness programs.</a:t>
            </a:r>
            <a:endParaRPr lang="en-US" altLang="en-US" sz="2000">
              <a:latin typeface="Arial" panose="020B0604020202020204" pitchFamily="34" charset="0"/>
              <a:cs typeface="Arial" panose="020B0604020202020204" pitchFamily="34" charset="0"/>
            </a:endParaRPr>
          </a:p>
          <a:p>
            <a:pPr>
              <a:lnSpc>
                <a:spcPct val="130000"/>
              </a:lnSpc>
            </a:pPr>
            <a:r>
              <a:rPr lang="en-US" altLang="en-US" sz="2000">
                <a:latin typeface="Arial" panose="020B0604020202020204" pitchFamily="34" charset="0"/>
                <a:cs typeface="Arial" panose="020B0604020202020204" pitchFamily="34" charset="0"/>
              </a:rPr>
              <a:t>Continuously update the model with new student data to improve prediction accuracy.</a:t>
            </a:r>
            <a:endParaRPr lang="en-US" altLang="en-US" sz="2000">
              <a:latin typeface="Arial" panose="020B0604020202020204" pitchFamily="34" charset="0"/>
              <a:cs typeface="Arial" panose="020B0604020202020204" pitchFamily="34" charset="0"/>
            </a:endParaRPr>
          </a:p>
          <a:p>
            <a:pPr>
              <a:lnSpc>
                <a:spcPct val="130000"/>
              </a:lnSpc>
            </a:pPr>
            <a:r>
              <a:rPr lang="en-US" altLang="en-US" sz="2000">
                <a:latin typeface="Arial" panose="020B0604020202020204" pitchFamily="34" charset="0"/>
                <a:cs typeface="Arial" panose="020B0604020202020204" pitchFamily="34" charset="0"/>
              </a:rPr>
              <a:t>Integrate the system with school or college health monitoring platforms for real-time risk assessment.</a:t>
            </a:r>
            <a:endParaRPr lang="en-US" altLang="en-US" sz="2000">
              <a:latin typeface="Arial" panose="020B0604020202020204" pitchFamily="34" charset="0"/>
              <a:cs typeface="Arial" panose="020B0604020202020204" pitchFamily="34" charset="0"/>
            </a:endParaRPr>
          </a:p>
          <a:p>
            <a:pPr>
              <a:lnSpc>
                <a:spcPct val="130000"/>
              </a:lnSpc>
            </a:pPr>
            <a:r>
              <a:rPr lang="en-US" altLang="en-US" sz="2000">
                <a:latin typeface="Arial" panose="020B0604020202020204" pitchFamily="34" charset="0"/>
                <a:cs typeface="Arial" panose="020B0604020202020204" pitchFamily="34" charset="0"/>
              </a:rPr>
              <a:t>Use the prediction results to provide personalized health recommendations and preventive interventions.</a:t>
            </a:r>
            <a:endParaRPr lang="en-US" altLang="en-US" sz="2000">
              <a:latin typeface="Arial" panose="020B0604020202020204" pitchFamily="34" charset="0"/>
              <a:cs typeface="Arial" panose="020B0604020202020204" pitchFamily="34" charset="0"/>
            </a:endParaRPr>
          </a:p>
        </p:txBody>
      </p:sp>
      <p:sp>
        <p:nvSpPr>
          <p:cNvPr id="4" name="Footer Placeholder 3"/>
          <p:cNvSpPr>
            <a:spLocks noGrp="1"/>
          </p:cNvSpPr>
          <p:nvPr>
            <p:ph type="ftr" sz="quarter" idx="11"/>
          </p:nvPr>
        </p:nvSpPr>
        <p:spPr/>
        <p:txBody>
          <a:bodyPr/>
          <a:p/>
        </p:txBody>
      </p:sp>
      <p:sp>
        <p:nvSpPr>
          <p:cNvPr id="5" name="Slide Number Placeholder 4"/>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50925" y="274955"/>
            <a:ext cx="9922510" cy="1143000"/>
          </a:xfrm>
        </p:spPr>
        <p:txBody>
          <a:bodyPr/>
          <a:p>
            <a:r>
              <a:rPr lang="en-US" sz="4000" b="1">
                <a:solidFill>
                  <a:srgbClr val="FF0000"/>
                </a:solidFill>
              </a:rPr>
              <a:t>Conclusion</a:t>
            </a:r>
            <a:endParaRPr lang="en-US" sz="4000" b="1">
              <a:solidFill>
                <a:srgbClr val="FF0000"/>
              </a:solidFill>
            </a:endParaRPr>
          </a:p>
        </p:txBody>
      </p:sp>
      <p:sp>
        <p:nvSpPr>
          <p:cNvPr id="3" name="Content Placeholder 2"/>
          <p:cNvSpPr>
            <a:spLocks noGrp="1"/>
          </p:cNvSpPr>
          <p:nvPr>
            <p:ph idx="1"/>
          </p:nvPr>
        </p:nvSpPr>
        <p:spPr>
          <a:xfrm>
            <a:off x="1014730" y="1417320"/>
            <a:ext cx="10077450" cy="4709160"/>
          </a:xfrm>
        </p:spPr>
        <p:txBody>
          <a:bodyPr/>
          <a:p>
            <a:pPr algn="just">
              <a:lnSpc>
                <a:spcPct val="150000"/>
              </a:lnSpc>
              <a:buFont typeface="Arial" panose="020B0604020202020204" pitchFamily="34" charset="0"/>
              <a:buChar char="•"/>
            </a:pPr>
            <a:r>
              <a:rPr lang="en-US" altLang="en-US" sz="2000">
                <a:latin typeface="Arial" panose="020B0604020202020204" pitchFamily="34" charset="0"/>
                <a:cs typeface="Arial" panose="020B0604020202020204" pitchFamily="34" charset="0"/>
              </a:rPr>
              <a:t>The Student Health Risk Prediction system successfully demonstrates the application of Artificial Neural Networks (ANN) in predicting students' health risk based on health, lifestyle, and academic factors. By following the CRISP-ML(Q) methodology, the project achieved 96% prediction accuracy through effective data preprocessing, feature engineering, hyperparameter optimization, and model evaluation. The Streamlit-based application provides real-time health risk assessment, enabling early identification of at-risk students. This project highlights the potential of AI in supporting preventive healthcare and promoting healthier lifestyles through timely, data-driven decision-making.</a:t>
            </a:r>
            <a:endParaRPr lang="en-US" altLang="en-US" sz="2000">
              <a:latin typeface="Arial" panose="020B0604020202020204" pitchFamily="34" charset="0"/>
              <a:cs typeface="Arial" panose="020B0604020202020204" pitchFamily="34" charset="0"/>
            </a:endParaRPr>
          </a:p>
        </p:txBody>
      </p:sp>
      <p:sp>
        <p:nvSpPr>
          <p:cNvPr id="4" name="Footer Placeholder 3"/>
          <p:cNvSpPr>
            <a:spLocks noGrp="1"/>
          </p:cNvSpPr>
          <p:nvPr>
            <p:ph type="ftr" sz="quarter" idx="11"/>
          </p:nvPr>
        </p:nvSpPr>
        <p:spPr/>
        <p:txBody>
          <a:bodyPr/>
          <a:p/>
        </p:txBody>
      </p:sp>
      <p:sp>
        <p:nvSpPr>
          <p:cNvPr id="5" name="Slide Number Placeholder 4"/>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52" name=""/>
        <p:cNvGrpSpPr/>
        <p:nvPr/>
      </p:nvGrpSpPr>
      <p:grpSpPr/>
      <p:sp>
        <p:nvSpPr>
          <p:cNvPr id="1048642" name="Title 1"/>
          <p:cNvSpPr/>
          <p:nvPr>
            <p:ph type="title"/>
          </p:nvPr>
        </p:nvSpPr>
        <p:spPr>
          <a:xfrm>
            <a:off x="1212850" y="365125"/>
            <a:ext cx="10140950" cy="5584190"/>
          </a:xfrm>
        </p:spPr>
        <p:txBody>
          <a:bodyPr/>
          <a:p>
            <a:pPr algn="ctr"/>
            <a:endParaRPr lang="en-US"/>
          </a:p>
        </p:txBody>
      </p:sp>
      <p:sp>
        <p:nvSpPr>
          <p:cNvPr id="1048643" name="Footer Placeholder 3"/>
          <p:cNvSpPr>
            <a:spLocks noGrp="1"/>
          </p:cNvSpPr>
          <p:nvPr>
            <p:ph type="ftr" sz="quarter" idx="11"/>
          </p:nvPr>
        </p:nvSpPr>
        <p:spPr/>
        <p:txBody>
          <a:bodyPr/>
          <a:p>
            <a:endParaRPr lang="zh-CN" altLang="en-US" b="1"/>
          </a:p>
        </p:txBody>
      </p:sp>
      <p:sp>
        <p:nvSpPr>
          <p:cNvPr id="1048644" name="Slide Number Placeholder 4"/>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pic>
        <p:nvPicPr>
          <p:cNvPr id="2" name="Picture 1" descr="Q&amp;A"/>
          <p:cNvPicPr>
            <a:picLocks noChangeAspect="1"/>
          </p:cNvPicPr>
          <p:nvPr/>
        </p:nvPicPr>
        <p:blipFill>
          <a:blip r:embed="rId1"/>
          <a:stretch>
            <a:fillRect/>
          </a:stretch>
        </p:blipFill>
        <p:spPr>
          <a:xfrm>
            <a:off x="2276475" y="1200150"/>
            <a:ext cx="8176260" cy="433514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53" name="Shape 115"/>
        <p:cNvGrpSpPr/>
        <p:nvPr/>
      </p:nvGrpSpPr>
      <p:grpSpPr>
        <a:xfrm>
          <a:off x="0" y="0"/>
          <a:ext cx="0" cy="0"/>
          <a:chOff x="0" y="0"/>
          <a:chExt cx="0" cy="0"/>
        </a:xfrm>
      </p:grpSpPr>
      <p:pic>
        <p:nvPicPr>
          <p:cNvPr id="2097170" name="Google Shape;116;p5"/>
          <p:cNvPicPr preferRelativeResize="0"/>
          <p:nvPr/>
        </p:nvPicPr>
        <p:blipFill rotWithShape="1">
          <a:blip r:embed="rId1"/>
          <a:srcRect/>
          <a:stretch>
            <a:fillRect/>
          </a:stretch>
        </p:blipFill>
        <p:spPr>
          <a:xfrm>
            <a:off x="6466516" y="1850749"/>
            <a:ext cx="4465643" cy="2834317"/>
          </a:xfrm>
          <a:prstGeom prst="rect">
            <a:avLst/>
          </a:prstGeom>
          <a:noFill/>
          <a:ln>
            <a:noFill/>
          </a:ln>
        </p:spPr>
      </p:pic>
      <p:sp>
        <p:nvSpPr>
          <p:cNvPr id="1048645"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a:t>
            </a:r>
            <a:endParaRPr lang="en-IN" sz="4400" b="0" i="0" u="none" strike="noStrike" cap="none">
              <a:solidFill>
                <a:srgbClr val="C00000"/>
              </a:solidFill>
              <a:latin typeface="Libre Baskerville"/>
              <a:ea typeface="Libre Baskerville"/>
              <a:cs typeface="Libre Baskerville"/>
              <a:sym typeface="Libre Baskerville"/>
            </a:endParaRPr>
          </a:p>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 </a:t>
            </a:r>
            <a:r>
              <a:rPr lang="en-US" altLang="en-IN" sz="4400" b="0" i="0" u="none" strike="noStrike" cap="none">
                <a:solidFill>
                  <a:srgbClr val="C00000"/>
                </a:solidFill>
                <a:latin typeface="Libre Baskerville"/>
                <a:ea typeface="Libre Baskerville"/>
                <a:cs typeface="Libre Baskerville"/>
                <a:sym typeface="Libre Baskerville"/>
              </a:rPr>
              <a:t>          </a:t>
            </a:r>
            <a:r>
              <a:rPr lang="en-IN" sz="4400" b="0" i="0" u="none" strike="noStrike" cap="none">
                <a:solidFill>
                  <a:srgbClr val="C00000"/>
                </a:solidFill>
                <a:latin typeface="Libre Baskerville"/>
                <a:ea typeface="Libre Baskerville"/>
                <a:cs typeface="Libre Baskerville"/>
                <a:sym typeface="Libre Baskerville"/>
              </a:rPr>
              <a:t>YOU</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46" name="Slide Number Placeholder 2"/>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sld>
</file>

<file path=ppt/tags/tag1.xml><?xml version="1.0" encoding="utf-8"?>
<p:tagLst xmlns:p="http://schemas.openxmlformats.org/presentationml/2006/main">
  <p:tag name="TABLE_ENDDRAG_ORIGIN_RECT" val="845*263"/>
  <p:tag name="TABLE_ENDDRAG_RECT" val="62*110*845*263"/>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13451</Words>
  <Application>WPS Presentation</Application>
  <PresentationFormat/>
  <Paragraphs>234</Paragraphs>
  <Slides>20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20</vt:i4>
      </vt:variant>
    </vt:vector>
  </HeadingPairs>
  <TitlesOfParts>
    <vt:vector size="32" baseType="lpstr">
      <vt:lpstr>Arial</vt:lpstr>
      <vt:lpstr>SimSun</vt:lpstr>
      <vt:lpstr>Wingdings</vt:lpstr>
      <vt:lpstr>Arial</vt:lpstr>
      <vt:lpstr>Calibri</vt:lpstr>
      <vt:lpstr>Calibri</vt:lpstr>
      <vt:lpstr>Lato Black</vt:lpstr>
      <vt:lpstr>Wingdings</vt:lpstr>
      <vt:lpstr>Microsoft YaHei</vt:lpstr>
      <vt:lpstr>Arial Unicode MS</vt:lpstr>
      <vt:lpstr>Libre Baskerville</vt:lpstr>
      <vt:lpstr>Default Design</vt:lpstr>
      <vt:lpstr>PowerPoint 演示文稿</vt:lpstr>
      <vt:lpstr>PowerPoint 演示文稿</vt:lpstr>
      <vt:lpstr>  Agenda</vt:lpstr>
      <vt:lpstr>Introduction</vt:lpstr>
      <vt:lpstr>CRISP-ML(Q)</vt:lpstr>
      <vt:lpstr>Business Problem</vt:lpstr>
      <vt:lpstr>Objective</vt:lpstr>
      <vt:lpstr>Dataset Overview</vt:lpstr>
      <vt:lpstr>Data Pre-processing</vt:lpstr>
      <vt:lpstr>PowerPoint 演示文稿</vt:lpstr>
      <vt:lpstr>PowerPoint 演示文稿</vt:lpstr>
      <vt:lpstr>Model Evaluation</vt:lpstr>
      <vt:lpstr>PowerPoint 演示文稿</vt:lpstr>
      <vt:lpstr>PowerPoint 演示文稿</vt:lpstr>
      <vt:lpstr>Challenges</vt:lpstr>
      <vt:lpstr>Key Insights</vt:lpstr>
      <vt:lpstr>Recommendations</vt:lpstr>
      <vt:lpstr>Conclusion</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Raghu Ram Aduri</dc:creator>
  <cp:lastModifiedBy>Baddam Pravallika</cp:lastModifiedBy>
  <cp:revision>85</cp:revision>
  <dcterms:created xsi:type="dcterms:W3CDTF">2026-02-28T11:33:00Z</dcterms:created>
  <dcterms:modified xsi:type="dcterms:W3CDTF">2026-08-07T15:48:46Z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D04BD2917CB147FD838F3B123DF2DFFA_13</vt:lpwstr>
  </property>
  <property fmtid="{D5CDD505-2E9C-101B-9397-08002B2CF9AE}" pid="3" name="KSOProductBuildVer">
    <vt:lpwstr>1033-12.1.0.28032</vt:lpwstr>
  </property>
</Properties>
</file>